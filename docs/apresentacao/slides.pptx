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 noite a todos. Hoje vou apresentar o Fastest CLI, uma ferramenta de linha de comando que usa inteligencia artificial para gerar testes automatizados a partir de requisitos escritos em linguagem natural. O projeto se insere no dominio de Software Testing do SWEBOK, especificamente no Capitulo 4. A ferramenta esta na versao 0.1.0 e suporta tanto Jest quanto Vitest.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Desenvolvedores gastam entre 15 e 30 por cento do tempo escrevendo testes, e ainda assim a cobertura media fica abaixo de 50 por cento. Existe uma tensao constante entre velocidade e qualidade. Testes sao a primeira coisa cortada quando o prazo aperta, e a qualidade varia muito entre desenvolvedores do mesmo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Duas personas guiaram o design. Carlos e o dev backend que considera testes tediosos e quer velocidade. Marina e a tech lead que sofre com inconsistencia e gasta horas revisando testes nos PRs. Para Marina, o Fastest precisa garantir um padrao de qualidade uniforme.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Nossa missao e democratizar a escrita de testes. A visao e ser a ferramenta padrao para TypeScript e JavaScript. Definimos cinco KPIs e todos foram atingidos ou superados. Nosso proprio projeto tem 201 testes e mais de 93 por cento de cobertura — praticamos o que pregamos.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nivel de contexto, o desenvolvedor interage com o Fastest pelo terminal. A CLI se comunica com dois provedores de IA e os testes gerados sao executados por Jest ou Vitest, que produzem relatorios de cobertura. Um fluxo simples e direto.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aplicacao tem tres camadas. CLI com cinco comandos. Services e o coracao: LLM Service orquestra, Test Generator valida, Coverage analisa, Cache evita chamadas duplicadas. Providers usa Factory Pattern para alternar entre OpenAI e Anthropic. A IA permeia a camada de servicos — nao e um modulo isolado.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decisao envolveu trade-offs conscientes. CLI ao inves de app web por zero fricao. Factory Pattern evita lock-in. Temperature 0.2 e critica: testes precisam ser previsiveis, nao criativos. Aceitamos dependencia de APIs externas mas mitigamos com cache, retry e dry-run.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prompts com responsabilidades definidas. buildTestPrompt gera o arquivo completo com temperature 0.2. buildRetryPrompt e acionado quando o teste falha — recebe o erro e corrige, em loop de ate 3 tentativas. buildCoverageSuggestionPrompt sugere testes para linhas nao cobertas. Todos versionados no codigo.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Hipotese clara e mensuravel, com quatro criterios GO simultaneos. Todos atingidos ou superados. A cobertura chegou a 93 por cento, bem acima da meta de 70. A pipeline foi validada de ponta a ponta. Isso nos deu confianca para perseverar.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Agora pauso os slides e demonstro ao vivo. Primeiro o fastest doctor para mostrar o ambiente configurado. Depois o modo interativo — reparem que o CLI pergunta arquivo, card e tipo de teste, incluindo o novo tipo caso de uso. Em seguida geracao com flags e o modo batch. Consultar demo-script.md para falas detalhadas e plano B. Vamos ao terminal.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Comecamos com 154 testes e 81 por cento e chegamos a 201 testes com 93 por cento. Foi estrategia deliberada. Cada modulo tem testes focados: providers com respostas simuladas, servicos com mocks, comandos CLI end-to-end. Investimos em edge cases — erro de API, cache expirado, input invalido. Essa cobertura nos da confianca para evoluir.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qualidade e surpreendentemente boa para cenarios comuns — compilacao acima de 80 por cento. A IA e excelente em estrutura, mocks e happy path. Mas logica de dominio e edge cases especificos ainda precisam de intervencao humana. O retry com feedback ajuda: quando falha, enviamos o erro de volta e a IA corrige. Ate 3 tentativas resolvem a maioria.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Seguranca foi prioridade desde o inicio. O maior risco e enviar codigo-fonte a APIs externas — mitigado com transparencia e dry-run, que mostra o que sera enviado antes da chamada. API keys com permissoes 0o600. Validacao de inputs previne prompt injection. O cache local reduz chamadas, economizando custo e exposicao.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evolucao foi significativa. De um provedor para dois, de um framework para dois, com batch mode e retry com feedback. Cobertura saltou de 81 para 93 por cento. As refatoracoes incluiram Factory Pattern, melhor separacao de responsabilidades e validacao de input completa. Cada melhoria guiada por feedback e pelos criterios do experimento.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metrica nao apenas atingiu, mas superou. De 154 para 201 testes, 34 por cento acima da meta. Cobertura 23 pontos acima da meta. Seis comandos em vez de quatro, dois providers em vez de um. E o mais importante: a pipeline foi validada de ponta a ponta.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feedback confirmou as hipoteses sobre as personas. Carlos adora o generate simples. Marina se identifica com o batch mode para padronizar em escala. Insight surpresa: o uso do dry-run — desenvolvedores querem ver o que sera gerado antes. As oportunidades alimentam o roadmap: mais linguagens, IDEs, documentacao.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decisao e clara: PERSEVERAR. Todos os criterios GO atendidos ou superados. A hipotese foi validada. Os dados suportam: 201 testes, 93 por cento de cobertura, pipeline funcional. A arquitetura e extensivel — Factory Pattern permite novos providers sem mudar o codigo. Nao ha razao para pivotar ou abandonar.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roadmap tem dois horizontes. v0.5 foca em polimento: mais modelos, watch mode, prompts customizaveis. v1.0 cresce em ambicao: Python e Go, integracao com IDEs, sistema de plugins. A visao de longo prazo e um agente autonomo de qualidade que sugere testes em pull requests e aprende com correcoes. O Factory Pattern de hoje e o alicerce dessa extensibilidade.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encerrar, uma reflexao. Usamos Claude como assistente no desenvolvimento e OpenAI/Anthropic como motores do produto. E importante reconhecer limitacoes: a IA e excelente para cenarios comuns, mas logica complexa precisa do olhar humano. Os testes tendem ao happy path — por isso o retry e importante. Somos transparentes: o usuario sabe que os testes sao gerados por IA. A IA e poderosa, mas o desenvolvedor continua essencial. Obrigado — aberto para perguntas.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54864"/>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32720" cy="1463040"/>
          </a:xfrm>
          <a:prstGeom prst="rect">
            <a:avLst/>
          </a:prstGeom>
          <a:noFill/>
        </p:spPr>
        <p:txBody>
          <a:bodyPr wrap="square" anchor="t" lIns="45720" rIns="45720" tIns="18288" bIns="18288">
            <a:spAutoFit/>
          </a:bodyPr>
          <a:lstStyle/>
          <a:p>
            <a:r>
              <a:rPr sz="5400" b="1" i="0">
                <a:solidFill>
                  <a:srgbClr val="FFFFFF"/>
                </a:solidFill>
                <a:latin typeface="Calibri"/>
              </a:rPr>
              <a:t>Fastest CLI</a:t>
            </a:r>
          </a:p>
          <a:p>
            <a:r>
              <a:rPr sz="2600" b="1" i="0">
                <a:solidFill>
                  <a:srgbClr val="149ECA"/>
                </a:solidFill>
                <a:latin typeface="Calibri"/>
              </a:rPr>
              <a:t>Geração Inteligente de Testes com IA</a:t>
            </a:r>
          </a:p>
        </p:txBody>
      </p:sp>
      <p:sp>
        <p:nvSpPr>
          <p:cNvPr id="5" name="TextBox 4"/>
          <p:cNvSpPr txBox="1"/>
          <p:nvPr/>
        </p:nvSpPr>
        <p:spPr>
          <a:xfrm>
            <a:off x="914400" y="4389120"/>
            <a:ext cx="10332720" cy="2011680"/>
          </a:xfrm>
          <a:prstGeom prst="rect">
            <a:avLst/>
          </a:prstGeom>
          <a:noFill/>
        </p:spPr>
        <p:txBody>
          <a:bodyPr wrap="square" anchor="t" lIns="45720" rIns="45720" tIns="18288" bIns="18288">
            <a:spAutoFit/>
          </a:bodyPr>
          <a:lstStyle/>
          <a:p>
            <a:pPr>
              <a:spcAft>
                <a:spcPts val="600"/>
              </a:spcAft>
            </a:pPr>
            <a:r>
              <a:rPr sz="1500" b="0" i="0">
                <a:solidFill>
                  <a:srgbClr val="FFFFFF"/>
                </a:solidFill>
                <a:latin typeface="Calibri"/>
              </a:rPr>
              <a:t>Pipeline Inteligente de Geração de Testes a partir de Requisitos em Linguagem Natural</a:t>
            </a:r>
          </a:p>
          <a:p>
            <a:pPr>
              <a:spcAft>
                <a:spcPts val="600"/>
              </a:spcAft>
            </a:pPr>
            <a:r>
              <a:rPr sz="1300" b="0" i="0">
                <a:solidFill>
                  <a:srgbClr val="B9CEDC"/>
                </a:solidFill>
                <a:latin typeface="Calibri"/>
              </a:rPr>
              <a:t>Domínio SWEBOK: Software Testing (Capítulo 4)  ·  v0.1.0</a:t>
            </a:r>
          </a:p>
          <a:p>
            <a:pPr>
              <a:spcAft>
                <a:spcPts val="600"/>
              </a:spcAft>
            </a:pPr>
            <a:r>
              <a:rPr sz="1300" b="0" i="0">
                <a:solidFill>
                  <a:srgbClr val="B9CEDC"/>
                </a:solidFill>
                <a:latin typeface="Calibri"/>
              </a:rPr>
              <a:t>Equipe: Jorge Freitas (líder)</a:t>
            </a:r>
          </a:p>
          <a:p>
            <a:pPr>
              <a:spcAft>
                <a:spcPts val="600"/>
              </a:spcAft>
            </a:pPr>
            <a:r>
              <a:rPr sz="1300" b="0" i="0">
                <a:solidFill>
                  <a:srgbClr val="149ECA"/>
                </a:solidFill>
                <a:latin typeface="Calibri"/>
              </a:rPr>
              <a:t>github.com/jorgelcff/Fastest-CLI</a:t>
            </a:r>
          </a:p>
          <a:p>
            <a:pPr>
              <a:spcAft>
                <a:spcPts val="600"/>
              </a:spcAft>
            </a:pPr>
            <a:r>
              <a:rPr sz="1200" b="0" i="0">
                <a:solidFill>
                  <a:srgbClr val="9FB7C8"/>
                </a:solidFill>
                <a:latin typeface="Calibri"/>
              </a:rPr>
              <a:t>TypeScript · Node.js · Jest/Vitest · OpenAI · Anthropic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1 · EXPOSIÇÃO</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O Problema: Testes são Caros e Negligenciados</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2</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graphicFrame>
        <p:nvGraphicFramePr>
          <p:cNvPr id="7" name="Table 6"/>
          <p:cNvGraphicFramePr>
            <a:graphicFrameLocks noGrp="1"/>
          </p:cNvGraphicFramePr>
          <p:nvPr/>
        </p:nvGraphicFramePr>
        <p:xfrm>
          <a:off x="548640" y="1417320"/>
          <a:ext cx="11094415" cy="1920240"/>
        </p:xfrm>
        <a:graphic>
          <a:graphicData uri="http://schemas.openxmlformats.org/drawingml/2006/table">
            <a:tbl>
              <a:tblPr firstRow="1" bandRow="1">
                <a:tableStyleId>{5C22544A-7EE6-4342-B048-85BDC9FD1C3A}</a:tableStyleId>
              </a:tblPr>
              <a:tblGrid>
                <a:gridCol w="4437766"/>
                <a:gridCol w="6656649"/>
              </a:tblGrid>
              <a:tr h="384048">
                <a:tc>
                  <a:txBody>
                    <a:bodyPr wrap="square"/>
                    <a:lstStyle/>
                    <a:p>
                      <a:r>
                        <a:rPr sz="1250" b="1" i="0">
                          <a:solidFill>
                            <a:srgbClr val="FFFFFF"/>
                          </a:solidFill>
                          <a:latin typeface="Calibri"/>
                        </a:rPr>
                        <a:t>Dado</a:t>
                      </a:r>
                    </a:p>
                  </a:txBody>
                  <a:tcPr marL="73152" marR="73152" marT="18288" marB="18288" anchor="ctr">
                    <a:solidFill>
                      <a:srgbClr val="0B2447"/>
                    </a:solidFill>
                  </a:tcPr>
                </a:tc>
                <a:tc>
                  <a:txBody>
                    <a:bodyPr wrap="square"/>
                    <a:lstStyle/>
                    <a:p>
                      <a:r>
                        <a:rPr sz="1250" b="1" i="0">
                          <a:solidFill>
                            <a:srgbClr val="FFFFFF"/>
                          </a:solidFill>
                          <a:latin typeface="Calibri"/>
                        </a:rPr>
                        <a:t>Valor</a:t>
                      </a:r>
                    </a:p>
                  </a:txBody>
                  <a:tcPr marL="73152" marR="73152" marT="18288" marB="18288" anchor="ctr">
                    <a:solidFill>
                      <a:srgbClr val="0B2447"/>
                    </a:solidFill>
                  </a:tcPr>
                </a:tc>
              </a:tr>
              <a:tr h="384048">
                <a:tc>
                  <a:txBody>
                    <a:bodyPr wrap="square"/>
                    <a:lstStyle/>
                    <a:p>
                      <a:r>
                        <a:rPr sz="1200" b="0" i="0">
                          <a:solidFill>
                            <a:srgbClr val="1B2A36"/>
                          </a:solidFill>
                          <a:latin typeface="Calibri"/>
                        </a:rPr>
                        <a:t>Tempo gasto em testes</a:t>
                      </a:r>
                    </a:p>
                  </a:txBody>
                  <a:tcPr marL="73152" marR="73152" marT="18288" marB="18288" anchor="ctr">
                    <a:solidFill>
                      <a:srgbClr val="FFFFFF"/>
                    </a:solidFill>
                  </a:tcPr>
                </a:tc>
                <a:tc>
                  <a:txBody>
                    <a:bodyPr wrap="square"/>
                    <a:lstStyle/>
                    <a:p>
                      <a:r>
                        <a:rPr sz="1200" b="0" i="0">
                          <a:solidFill>
                            <a:srgbClr val="1B2A36"/>
                          </a:solidFill>
                          <a:latin typeface="Calibri"/>
                        </a:rPr>
                        <a:t>15–30% do ciclo de desenvolvimento</a:t>
                      </a:r>
                    </a:p>
                  </a:txBody>
                  <a:tcPr marL="73152" marR="73152" marT="18288" marB="18288" anchor="ctr">
                    <a:solidFill>
                      <a:srgbClr val="FFFFFF"/>
                    </a:solidFill>
                  </a:tcPr>
                </a:tc>
              </a:tr>
              <a:tr h="384048">
                <a:tc>
                  <a:txBody>
                    <a:bodyPr wrap="square"/>
                    <a:lstStyle/>
                    <a:p>
                      <a:r>
                        <a:rPr sz="1200" b="0" i="0">
                          <a:solidFill>
                            <a:srgbClr val="1B2A36"/>
                          </a:solidFill>
                          <a:latin typeface="Calibri"/>
                        </a:rPr>
                        <a:t>Cobertura média em projetos reais</a:t>
                      </a:r>
                    </a:p>
                  </a:txBody>
                  <a:tcPr marL="73152" marR="73152" marT="18288" marB="18288" anchor="ctr">
                    <a:solidFill>
                      <a:srgbClr val="EAF1F6"/>
                    </a:solidFill>
                  </a:tcPr>
                </a:tc>
                <a:tc>
                  <a:txBody>
                    <a:bodyPr wrap="square"/>
                    <a:lstStyle/>
                    <a:p>
                      <a:r>
                        <a:rPr sz="1200" b="0" i="0">
                          <a:solidFill>
                            <a:srgbClr val="1B2A36"/>
                          </a:solidFill>
                          <a:latin typeface="Calibri"/>
                        </a:rPr>
                        <a:t>&lt; 50%</a:t>
                      </a:r>
                    </a:p>
                  </a:txBody>
                  <a:tcPr marL="73152" marR="73152" marT="18288" marB="18288" anchor="ctr">
                    <a:solidFill>
                      <a:srgbClr val="EAF1F6"/>
                    </a:solidFill>
                  </a:tcPr>
                </a:tc>
              </a:tr>
              <a:tr h="384048">
                <a:tc>
                  <a:txBody>
                    <a:bodyPr wrap="square"/>
                    <a:lstStyle/>
                    <a:p>
                      <a:r>
                        <a:rPr sz="1200" b="0" i="0">
                          <a:solidFill>
                            <a:srgbClr val="1B2A36"/>
                          </a:solidFill>
                          <a:latin typeface="Calibri"/>
                        </a:rPr>
                        <a:t>Testes escritos após o código</a:t>
                      </a:r>
                    </a:p>
                  </a:txBody>
                  <a:tcPr marL="73152" marR="73152" marT="18288" marB="18288" anchor="ctr">
                    <a:solidFill>
                      <a:srgbClr val="FFFFFF"/>
                    </a:solidFill>
                  </a:tcPr>
                </a:tc>
                <a:tc>
                  <a:txBody>
                    <a:bodyPr wrap="square"/>
                    <a:lstStyle/>
                    <a:p>
                      <a:r>
                        <a:rPr sz="1200" b="0" i="0">
                          <a:solidFill>
                            <a:srgbClr val="1B2A36"/>
                          </a:solidFill>
                          <a:latin typeface="Calibri"/>
                        </a:rPr>
                        <a:t>&gt; 70% dos projetos</a:t>
                      </a:r>
                    </a:p>
                  </a:txBody>
                  <a:tcPr marL="73152" marR="73152" marT="18288" marB="18288" anchor="ctr">
                    <a:solidFill>
                      <a:srgbClr val="FFFFFF"/>
                    </a:solidFill>
                  </a:tcPr>
                </a:tc>
              </a:tr>
              <a:tr h="384048">
                <a:tc>
                  <a:txBody>
                    <a:bodyPr wrap="square"/>
                    <a:lstStyle/>
                    <a:p>
                      <a:r>
                        <a:rPr sz="1200" b="0" i="0">
                          <a:solidFill>
                            <a:srgbClr val="1B2A36"/>
                          </a:solidFill>
                          <a:latin typeface="Calibri"/>
                        </a:rPr>
                        <a:t>Devs que consideram testes "chatos"</a:t>
                      </a:r>
                    </a:p>
                  </a:txBody>
                  <a:tcPr marL="73152" marR="73152" marT="18288" marB="18288" anchor="ctr">
                    <a:solidFill>
                      <a:srgbClr val="EAF1F6"/>
                    </a:solidFill>
                  </a:tcPr>
                </a:tc>
                <a:tc>
                  <a:txBody>
                    <a:bodyPr wrap="square"/>
                    <a:lstStyle/>
                    <a:p>
                      <a:r>
                        <a:rPr sz="1200" b="0" i="0">
                          <a:solidFill>
                            <a:srgbClr val="1B2A36"/>
                          </a:solidFill>
                          <a:latin typeface="Calibri"/>
                        </a:rPr>
                        <a:t>62% (Stack Overflow)</a:t>
                      </a:r>
                    </a:p>
                  </a:txBody>
                  <a:tcPr marL="73152" marR="73152" marT="18288" marB="18288" anchor="ctr">
                    <a:solidFill>
                      <a:srgbClr val="EAF1F6"/>
                    </a:solidFill>
                  </a:tcPr>
                </a:tc>
              </a:tr>
            </a:tbl>
          </a:graphicData>
        </a:graphic>
      </p:graphicFrame>
      <p:sp>
        <p:nvSpPr>
          <p:cNvPr id="8" name="TextBox 7"/>
          <p:cNvSpPr txBox="1"/>
          <p:nvPr/>
        </p:nvSpPr>
        <p:spPr>
          <a:xfrm>
            <a:off x="548640" y="3566160"/>
            <a:ext cx="11094415" cy="1243584"/>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Testes repetitivos consomem tempo criativo</a:t>
            </a:r>
          </a:p>
          <a:p>
            <a:pPr>
              <a:spcAft>
                <a:spcPts val="400"/>
              </a:spcAft>
            </a:pPr>
            <a:r>
              <a:rPr sz="1600" b="1" i="0">
                <a:solidFill>
                  <a:srgbClr val="149ECA"/>
                </a:solidFill>
                <a:latin typeface="Calibri"/>
              </a:rPr>
              <a:t>▸ </a:t>
            </a:r>
            <a:r>
              <a:rPr sz="1600" b="0" i="0">
                <a:solidFill>
                  <a:srgbClr val="1B2A36"/>
                </a:solidFill>
                <a:latin typeface="Calibri"/>
              </a:rPr>
              <a:t>Qualidade inconsistente entre membros do time</a:t>
            </a:r>
          </a:p>
          <a:p>
            <a:pPr>
              <a:spcAft>
                <a:spcPts val="400"/>
              </a:spcAft>
            </a:pPr>
            <a:r>
              <a:rPr sz="1600" b="1" i="0">
                <a:solidFill>
                  <a:srgbClr val="149ECA"/>
                </a:solidFill>
                <a:latin typeface="Calibri"/>
              </a:rPr>
              <a:t>▸ </a:t>
            </a:r>
            <a:r>
              <a:rPr sz="1600" b="0" i="0">
                <a:solidFill>
                  <a:srgbClr val="1B2A36"/>
                </a:solidFill>
                <a:latin typeface="Calibri"/>
              </a:rPr>
              <a:t>Cobertura cai conforme prazos apertam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1 · EXPOSIÇÃO</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Para Quem Construímos: Carlos e Marina</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3</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sp>
        <p:nvSpPr>
          <p:cNvPr id="7" name="TextBox 6"/>
          <p:cNvSpPr txBox="1"/>
          <p:nvPr/>
        </p:nvSpPr>
        <p:spPr>
          <a:xfrm>
            <a:off x="548640" y="1417320"/>
            <a:ext cx="11094415" cy="365760"/>
          </a:xfrm>
          <a:prstGeom prst="rect">
            <a:avLst/>
          </a:prstGeom>
          <a:noFill/>
        </p:spPr>
        <p:txBody>
          <a:bodyPr wrap="square" anchor="t" lIns="45720" rIns="45720" tIns="18288" bIns="18288">
            <a:spAutoFit/>
          </a:bodyPr>
          <a:lstStyle/>
          <a:p>
            <a:r>
              <a:rPr sz="1700" b="1" i="0">
                <a:solidFill>
                  <a:srgbClr val="149ECA"/>
                </a:solidFill>
                <a:latin typeface="Calibri"/>
              </a:rPr>
              <a:t>Carlos, 28 — Desenvolvedor Backend</a:t>
            </a:r>
          </a:p>
        </p:txBody>
      </p:sp>
      <p:sp>
        <p:nvSpPr>
          <p:cNvPr id="8" name="TextBox 7"/>
          <p:cNvSpPr txBox="1"/>
          <p:nvPr/>
        </p:nvSpPr>
        <p:spPr>
          <a:xfrm>
            <a:off x="548640" y="1828800"/>
            <a:ext cx="11094415" cy="1554480"/>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Stack Node.js/TypeScript, 4 anos de experiência</a:t>
            </a:r>
          </a:p>
          <a:p>
            <a:pPr>
              <a:spcAft>
                <a:spcPts val="400"/>
              </a:spcAft>
            </a:pPr>
            <a:r>
              <a:rPr sz="1600" b="1" i="0">
                <a:solidFill>
                  <a:srgbClr val="149ECA"/>
                </a:solidFill>
                <a:latin typeface="Calibri"/>
              </a:rPr>
              <a:t>▸ </a:t>
            </a:r>
            <a:r>
              <a:rPr sz="1600" b="0" i="0">
                <a:solidFill>
                  <a:srgbClr val="1B2A36"/>
                </a:solidFill>
                <a:latin typeface="Calibri"/>
              </a:rPr>
              <a:t>Dor: "Detesto escrever testes, mas sei que preciso"</a:t>
            </a:r>
          </a:p>
          <a:p>
            <a:pPr>
              <a:spcAft>
                <a:spcPts val="400"/>
              </a:spcAft>
            </a:pPr>
            <a:r>
              <a:rPr sz="1600" b="1" i="0">
                <a:solidFill>
                  <a:srgbClr val="149ECA"/>
                </a:solidFill>
                <a:latin typeface="Calibri"/>
              </a:rPr>
              <a:t>▸ </a:t>
            </a:r>
            <a:r>
              <a:rPr sz="1600" b="0" i="0">
                <a:solidFill>
                  <a:srgbClr val="1B2A36"/>
                </a:solidFill>
                <a:latin typeface="Calibri"/>
              </a:rPr>
              <a:t>Meta: alcançar 70% de cobertura sem perder tempo</a:t>
            </a:r>
          </a:p>
          <a:p>
            <a:pPr>
              <a:spcAft>
                <a:spcPts val="400"/>
              </a:spcAft>
            </a:pPr>
            <a:r>
              <a:rPr sz="1600" b="1" i="0">
                <a:solidFill>
                  <a:srgbClr val="149ECA"/>
                </a:solidFill>
                <a:latin typeface="Calibri"/>
              </a:rPr>
              <a:t>▸ </a:t>
            </a:r>
            <a:r>
              <a:rPr sz="1600" b="0" i="0">
                <a:solidFill>
                  <a:srgbClr val="1B2A36"/>
                </a:solidFill>
                <a:latin typeface="Calibri"/>
              </a:rPr>
              <a:t>Necessidade: gerar testes rápido a partir do que já sabe do código</a:t>
            </a:r>
          </a:p>
        </p:txBody>
      </p:sp>
      <p:sp>
        <p:nvSpPr>
          <p:cNvPr id="9" name="TextBox 8"/>
          <p:cNvSpPr txBox="1"/>
          <p:nvPr/>
        </p:nvSpPr>
        <p:spPr>
          <a:xfrm>
            <a:off x="548640" y="3383280"/>
            <a:ext cx="11094415" cy="365760"/>
          </a:xfrm>
          <a:prstGeom prst="rect">
            <a:avLst/>
          </a:prstGeom>
          <a:noFill/>
        </p:spPr>
        <p:txBody>
          <a:bodyPr wrap="square" anchor="t" lIns="45720" rIns="45720" tIns="18288" bIns="18288">
            <a:spAutoFit/>
          </a:bodyPr>
          <a:lstStyle/>
          <a:p>
            <a:r>
              <a:rPr sz="1700" b="1" i="0">
                <a:solidFill>
                  <a:srgbClr val="149ECA"/>
                </a:solidFill>
                <a:latin typeface="Calibri"/>
              </a:rPr>
              <a:t>Marina, 34 — Tech Lead</a:t>
            </a:r>
          </a:p>
        </p:txBody>
      </p:sp>
      <p:sp>
        <p:nvSpPr>
          <p:cNvPr id="10" name="TextBox 9"/>
          <p:cNvSpPr txBox="1"/>
          <p:nvPr/>
        </p:nvSpPr>
        <p:spPr>
          <a:xfrm>
            <a:off x="548640" y="3794760"/>
            <a:ext cx="11094415" cy="1554480"/>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Gerencia time de 6 desenvolvedores</a:t>
            </a:r>
          </a:p>
          <a:p>
            <a:pPr>
              <a:spcAft>
                <a:spcPts val="400"/>
              </a:spcAft>
            </a:pPr>
            <a:r>
              <a:rPr sz="1600" b="1" i="0">
                <a:solidFill>
                  <a:srgbClr val="149ECA"/>
                </a:solidFill>
                <a:latin typeface="Calibri"/>
              </a:rPr>
              <a:t>▸ </a:t>
            </a:r>
            <a:r>
              <a:rPr sz="1600" b="0" i="0">
                <a:solidFill>
                  <a:srgbClr val="1B2A36"/>
                </a:solidFill>
                <a:latin typeface="Calibri"/>
              </a:rPr>
              <a:t>Dor: "Cada dev escreve testes de um jeito diferente"</a:t>
            </a:r>
          </a:p>
          <a:p>
            <a:pPr>
              <a:spcAft>
                <a:spcPts val="400"/>
              </a:spcAft>
            </a:pPr>
            <a:r>
              <a:rPr sz="1600" b="1" i="0">
                <a:solidFill>
                  <a:srgbClr val="149ECA"/>
                </a:solidFill>
                <a:latin typeface="Calibri"/>
              </a:rPr>
              <a:t>▸ </a:t>
            </a:r>
            <a:r>
              <a:rPr sz="1600" b="0" i="0">
                <a:solidFill>
                  <a:srgbClr val="1B2A36"/>
                </a:solidFill>
                <a:latin typeface="Calibri"/>
              </a:rPr>
              <a:t>Meta: padronizar qualidade de testes no time inteiro</a:t>
            </a:r>
          </a:p>
          <a:p>
            <a:pPr>
              <a:spcAft>
                <a:spcPts val="400"/>
              </a:spcAft>
            </a:pPr>
            <a:r>
              <a:rPr sz="1600" b="1" i="0">
                <a:solidFill>
                  <a:srgbClr val="149ECA"/>
                </a:solidFill>
                <a:latin typeface="Calibri"/>
              </a:rPr>
              <a:t>▸ </a:t>
            </a:r>
            <a:r>
              <a:rPr sz="1600" b="0" i="0">
                <a:solidFill>
                  <a:srgbClr val="1B2A36"/>
                </a:solidFill>
                <a:latin typeface="Calibri"/>
              </a:rPr>
              <a:t>Necessidade: garantir consistência e cobrir edge cases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1 · EXPOSIÇÃO</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Missão, Visão e Indicadores-Chave</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4</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sp>
        <p:nvSpPr>
          <p:cNvPr id="7" name="Rectangle 6"/>
          <p:cNvSpPr/>
          <p:nvPr/>
        </p:nvSpPr>
        <p:spPr>
          <a:xfrm>
            <a:off x="548640" y="1417320"/>
            <a:ext cx="11094415" cy="713232"/>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500" b="1" i="1">
                <a:solidFill>
                  <a:srgbClr val="0B2447"/>
                </a:solidFill>
                <a:latin typeface="Calibri"/>
              </a:rPr>
              <a:t>Missão: democratizar a escrita de testes de qualidade através de IA generativa, reduzindo a barreira de entrada e aumentando a cobertura.</a:t>
            </a:r>
          </a:p>
        </p:txBody>
      </p:sp>
      <p:sp>
        <p:nvSpPr>
          <p:cNvPr id="8" name="Rectangle 7"/>
          <p:cNvSpPr/>
          <p:nvPr/>
        </p:nvSpPr>
        <p:spPr>
          <a:xfrm>
            <a:off x="548640" y="1417320"/>
            <a:ext cx="73152" cy="71323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21992"/>
            <a:ext cx="11094415" cy="713232"/>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500" b="1" i="1">
                <a:solidFill>
                  <a:srgbClr val="0B2447"/>
                </a:solidFill>
                <a:latin typeface="Calibri"/>
              </a:rPr>
              <a:t>Visão: ser a ferramenta padrão de geração de testes em projetos TypeScript/JavaScript até 2027.</a:t>
            </a:r>
          </a:p>
        </p:txBody>
      </p:sp>
      <p:sp>
        <p:nvSpPr>
          <p:cNvPr id="10" name="Rectangle 9"/>
          <p:cNvSpPr/>
          <p:nvPr/>
        </p:nvSpPr>
        <p:spPr>
          <a:xfrm>
            <a:off x="548640" y="2221992"/>
            <a:ext cx="73152" cy="71323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3026664"/>
          <a:ext cx="11094415" cy="2304288"/>
        </p:xfrm>
        <a:graphic>
          <a:graphicData uri="http://schemas.openxmlformats.org/drawingml/2006/table">
            <a:tbl>
              <a:tblPr firstRow="1" bandRow="1">
                <a:tableStyleId>{5C22544A-7EE6-4342-B048-85BDC9FD1C3A}</a:tableStyleId>
              </a:tblPr>
              <a:tblGrid>
                <a:gridCol w="6656649"/>
                <a:gridCol w="2218883"/>
                <a:gridCol w="2218883"/>
              </a:tblGrid>
              <a:tr h="384048">
                <a:tc>
                  <a:txBody>
                    <a:bodyPr wrap="square"/>
                    <a:lstStyle/>
                    <a:p>
                      <a:r>
                        <a:rPr sz="1250" b="1" i="0">
                          <a:solidFill>
                            <a:srgbClr val="FFFFFF"/>
                          </a:solidFill>
                          <a:latin typeface="Calibri"/>
                        </a:rPr>
                        <a:t>KPI</a:t>
                      </a:r>
                    </a:p>
                  </a:txBody>
                  <a:tcPr marL="73152" marR="73152" marT="18288" marB="18288" anchor="ctr">
                    <a:solidFill>
                      <a:srgbClr val="0B2447"/>
                    </a:solidFill>
                  </a:tcPr>
                </a:tc>
                <a:tc>
                  <a:txBody>
                    <a:bodyPr wrap="square"/>
                    <a:lstStyle/>
                    <a:p>
                      <a:r>
                        <a:rPr sz="1250" b="1" i="0">
                          <a:solidFill>
                            <a:srgbClr val="FFFFFF"/>
                          </a:solidFill>
                          <a:latin typeface="Calibri"/>
                        </a:rPr>
                        <a:t>Meta</a:t>
                      </a:r>
                    </a:p>
                  </a:txBody>
                  <a:tcPr marL="73152" marR="73152" marT="18288" marB="18288" anchor="ctr">
                    <a:solidFill>
                      <a:srgbClr val="0B2447"/>
                    </a:solidFill>
                  </a:tcPr>
                </a:tc>
                <a:tc>
                  <a:txBody>
                    <a:bodyPr wrap="square"/>
                    <a:lstStyle/>
                    <a:p>
                      <a:r>
                        <a:rPr sz="1250" b="1" i="0">
                          <a:solidFill>
                            <a:srgbClr val="FFFFFF"/>
                          </a:solidFill>
                          <a:latin typeface="Calibri"/>
                        </a:rPr>
                        <a:t>Status Atual</a:t>
                      </a:r>
                    </a:p>
                  </a:txBody>
                  <a:tcPr marL="73152" marR="73152" marT="18288" marB="18288" anchor="ctr">
                    <a:solidFill>
                      <a:srgbClr val="0B2447"/>
                    </a:solidFill>
                  </a:tcPr>
                </a:tc>
              </a:tr>
              <a:tr h="384048">
                <a:tc>
                  <a:txBody>
                    <a:bodyPr wrap="square"/>
                    <a:lstStyle/>
                    <a:p>
                      <a:r>
                        <a:rPr sz="1200" b="0" i="0">
                          <a:solidFill>
                            <a:srgbClr val="1B2A36"/>
                          </a:solidFill>
                          <a:latin typeface="Calibri"/>
                        </a:rPr>
                        <a:t>Cobertura do próprio projeto</a:t>
                      </a:r>
                    </a:p>
                  </a:txBody>
                  <a:tcPr marL="73152" marR="73152" marT="18288" marB="18288" anchor="ctr">
                    <a:solidFill>
                      <a:srgbClr val="FFFFFF"/>
                    </a:solidFill>
                  </a:tcPr>
                </a:tc>
                <a:tc>
                  <a:txBody>
                    <a:bodyPr wrap="square"/>
                    <a:lstStyle/>
                    <a:p>
                      <a:r>
                        <a:rPr sz="1200" b="0" i="0">
                          <a:solidFill>
                            <a:srgbClr val="1B2A36"/>
                          </a:solidFill>
                          <a:latin typeface="Calibri"/>
                        </a:rPr>
                        <a:t>≥ 90%</a:t>
                      </a:r>
                    </a:p>
                  </a:txBody>
                  <a:tcPr marL="73152" marR="73152" marT="18288" marB="18288" anchor="ctr">
                    <a:solidFill>
                      <a:srgbClr val="FFFFFF"/>
                    </a:solidFill>
                  </a:tcPr>
                </a:tc>
                <a:tc>
                  <a:txBody>
                    <a:bodyPr wrap="square"/>
                    <a:lstStyle/>
                    <a:p>
                      <a:r>
                        <a:rPr sz="1200" b="0" i="0">
                          <a:solidFill>
                            <a:srgbClr val="1B2A36"/>
                          </a:solidFill>
                          <a:latin typeface="Calibri"/>
                        </a:rPr>
                        <a:t>93%+</a:t>
                      </a:r>
                    </a:p>
                  </a:txBody>
                  <a:tcPr marL="73152" marR="73152" marT="18288" marB="18288" anchor="ctr">
                    <a:solidFill>
                      <a:srgbClr val="FFFFFF"/>
                    </a:solidFill>
                  </a:tcPr>
                </a:tc>
              </a:tr>
              <a:tr h="384048">
                <a:tc>
                  <a:txBody>
                    <a:bodyPr wrap="square"/>
                    <a:lstStyle/>
                    <a:p>
                      <a:r>
                        <a:rPr sz="1200" b="0" i="0">
                          <a:solidFill>
                            <a:srgbClr val="1B2A36"/>
                          </a:solidFill>
                          <a:latin typeface="Calibri"/>
                        </a:rPr>
                        <a:t>Compilação dos testes gerados</a:t>
                      </a:r>
                    </a:p>
                  </a:txBody>
                  <a:tcPr marL="73152" marR="73152" marT="18288" marB="18288" anchor="ctr">
                    <a:solidFill>
                      <a:srgbClr val="EAF1F6"/>
                    </a:solidFill>
                  </a:tcPr>
                </a:tc>
                <a:tc>
                  <a:txBody>
                    <a:bodyPr wrap="square"/>
                    <a:lstStyle/>
                    <a:p>
                      <a:r>
                        <a:rPr sz="1200" b="0" i="0">
                          <a:solidFill>
                            <a:srgbClr val="1B2A36"/>
                          </a:solidFill>
                          <a:latin typeface="Calibri"/>
                        </a:rPr>
                        <a:t>≥ 80%</a:t>
                      </a:r>
                    </a:p>
                  </a:txBody>
                  <a:tcPr marL="73152" marR="73152" marT="18288" marB="18288" anchor="ctr">
                    <a:solidFill>
                      <a:srgbClr val="EAF1F6"/>
                    </a:solidFill>
                  </a:tcPr>
                </a:tc>
                <a:tc>
                  <a:txBody>
                    <a:bodyPr wrap="square"/>
                    <a:lstStyle/>
                    <a:p>
                      <a:r>
                        <a:rPr sz="1200" b="0" i="0">
                          <a:solidFill>
                            <a:srgbClr val="1B2A36"/>
                          </a:solidFill>
                          <a:latin typeface="Calibri"/>
                        </a:rPr>
                        <a:t>Validado</a:t>
                      </a:r>
                    </a:p>
                  </a:txBody>
                  <a:tcPr marL="73152" marR="73152" marT="18288" marB="18288" anchor="ctr">
                    <a:solidFill>
                      <a:srgbClr val="EAF1F6"/>
                    </a:solidFill>
                  </a:tcPr>
                </a:tc>
              </a:tr>
              <a:tr h="384048">
                <a:tc>
                  <a:txBody>
                    <a:bodyPr wrap="square"/>
                    <a:lstStyle/>
                    <a:p>
                      <a:r>
                        <a:rPr sz="1200" b="0" i="0">
                          <a:solidFill>
                            <a:srgbClr val="1B2A36"/>
                          </a:solidFill>
                          <a:latin typeface="Calibri"/>
                        </a:rPr>
                        <a:t>Redução de tempo de escrita</a:t>
                      </a:r>
                    </a:p>
                  </a:txBody>
                  <a:tcPr marL="73152" marR="73152" marT="18288" marB="18288" anchor="ctr">
                    <a:solidFill>
                      <a:srgbClr val="FFFFFF"/>
                    </a:solidFill>
                  </a:tcPr>
                </a:tc>
                <a:tc>
                  <a:txBody>
                    <a:bodyPr wrap="square"/>
                    <a:lstStyle/>
                    <a:p>
                      <a:r>
                        <a:rPr sz="1200" b="0" i="0">
                          <a:solidFill>
                            <a:srgbClr val="1B2A36"/>
                          </a:solidFill>
                          <a:latin typeface="Calibri"/>
                        </a:rPr>
                        <a:t>≥ 50%</a:t>
                      </a:r>
                    </a:p>
                  </a:txBody>
                  <a:tcPr marL="73152" marR="73152" marT="18288" marB="18288" anchor="ctr">
                    <a:solidFill>
                      <a:srgbClr val="FFFFFF"/>
                    </a:solidFill>
                  </a:tcPr>
                </a:tc>
                <a:tc>
                  <a:txBody>
                    <a:bodyPr wrap="square"/>
                    <a:lstStyle/>
                    <a:p>
                      <a:r>
                        <a:rPr sz="1200" b="0" i="0">
                          <a:solidFill>
                            <a:srgbClr val="1B2A36"/>
                          </a:solidFill>
                          <a:latin typeface="Calibri"/>
                        </a:rPr>
                        <a:t>Validado</a:t>
                      </a:r>
                    </a:p>
                  </a:txBody>
                  <a:tcPr marL="73152" marR="73152" marT="18288" marB="18288" anchor="ctr">
                    <a:solidFill>
                      <a:srgbClr val="FFFFFF"/>
                    </a:solidFill>
                  </a:tcPr>
                </a:tc>
              </a:tr>
              <a:tr h="384048">
                <a:tc>
                  <a:txBody>
                    <a:bodyPr wrap="square"/>
                    <a:lstStyle/>
                    <a:p>
                      <a:r>
                        <a:rPr sz="1200" b="0" i="0">
                          <a:solidFill>
                            <a:srgbClr val="1B2A36"/>
                          </a:solidFill>
                          <a:latin typeface="Calibri"/>
                        </a:rPr>
                        <a:t>Número de testes automatizados</a:t>
                      </a:r>
                    </a:p>
                  </a:txBody>
                  <a:tcPr marL="73152" marR="73152" marT="18288" marB="18288" anchor="ctr">
                    <a:solidFill>
                      <a:srgbClr val="EAF1F6"/>
                    </a:solidFill>
                  </a:tcPr>
                </a:tc>
                <a:tc>
                  <a:txBody>
                    <a:bodyPr wrap="square"/>
                    <a:lstStyle/>
                    <a:p>
                      <a:r>
                        <a:rPr sz="1200" b="0" i="0">
                          <a:solidFill>
                            <a:srgbClr val="1B2A36"/>
                          </a:solidFill>
                          <a:latin typeface="Calibri"/>
                        </a:rPr>
                        <a:t>≥ 150</a:t>
                      </a:r>
                    </a:p>
                  </a:txBody>
                  <a:tcPr marL="73152" marR="73152" marT="18288" marB="18288" anchor="ctr">
                    <a:solidFill>
                      <a:srgbClr val="EAF1F6"/>
                    </a:solidFill>
                  </a:tcPr>
                </a:tc>
                <a:tc>
                  <a:txBody>
                    <a:bodyPr wrap="square"/>
                    <a:lstStyle/>
                    <a:p>
                      <a:r>
                        <a:rPr sz="1200" b="0" i="0">
                          <a:solidFill>
                            <a:srgbClr val="1B2A36"/>
                          </a:solidFill>
                          <a:latin typeface="Calibri"/>
                        </a:rPr>
                        <a:t>201</a:t>
                      </a:r>
                    </a:p>
                  </a:txBody>
                  <a:tcPr marL="73152" marR="73152" marT="18288" marB="18288" anchor="ctr">
                    <a:solidFill>
                      <a:srgbClr val="EAF1F6"/>
                    </a:solidFill>
                  </a:tcPr>
                </a:tc>
              </a:tr>
              <a:tr h="384048">
                <a:tc>
                  <a:txBody>
                    <a:bodyPr wrap="square"/>
                    <a:lstStyle/>
                    <a:p>
                      <a:r>
                        <a:rPr sz="1200" b="0" i="0">
                          <a:solidFill>
                            <a:srgbClr val="1B2A36"/>
                          </a:solidFill>
                          <a:latin typeface="Calibri"/>
                        </a:rPr>
                        <a:t>Taxa de passagem no Jest</a:t>
                      </a:r>
                    </a:p>
                  </a:txBody>
                  <a:tcPr marL="73152" marR="73152" marT="18288" marB="18288" anchor="ctr">
                    <a:solidFill>
                      <a:srgbClr val="FFFFFF"/>
                    </a:solidFill>
                  </a:tcPr>
                </a:tc>
                <a:tc>
                  <a:txBody>
                    <a:bodyPr wrap="square"/>
                    <a:lstStyle/>
                    <a:p>
                      <a:r>
                        <a:rPr sz="1200" b="0" i="0">
                          <a:solidFill>
                            <a:srgbClr val="1B2A36"/>
                          </a:solidFill>
                          <a:latin typeface="Calibri"/>
                        </a:rPr>
                        <a:t>≥ 60%</a:t>
                      </a:r>
                    </a:p>
                  </a:txBody>
                  <a:tcPr marL="73152" marR="73152" marT="18288" marB="18288" anchor="ctr">
                    <a:solidFill>
                      <a:srgbClr val="FFFFFF"/>
                    </a:solidFill>
                  </a:tcPr>
                </a:tc>
                <a:tc>
                  <a:txBody>
                    <a:bodyPr wrap="square"/>
                    <a:lstStyle/>
                    <a:p>
                      <a:r>
                        <a:rPr sz="1200" b="0" i="0">
                          <a:solidFill>
                            <a:srgbClr val="1B2A36"/>
                          </a:solidFill>
                          <a:latin typeface="Calibri"/>
                        </a:rPr>
                        <a:t>Validado</a:t>
                      </a:r>
                    </a:p>
                  </a:txBody>
                  <a:tcPr marL="73152" marR="73152" marT="18288" marB="18288"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2 · COMPOSIÇÃO</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Arquitetura C4 — Diagrama de Contexto</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5</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sp>
        <p:nvSpPr>
          <p:cNvPr id="7" name="Rectangle 6"/>
          <p:cNvSpPr/>
          <p:nvPr/>
        </p:nvSpPr>
        <p:spPr>
          <a:xfrm>
            <a:off x="548640" y="1417320"/>
            <a:ext cx="11094415" cy="2907792"/>
          </a:xfrm>
          <a:prstGeom prst="rect">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tIns="109728"/>
          <a:lstStyle/>
          <a:p>
            <a:pPr algn="ctr">
              <a:spcAft>
                <a:spcPts val="0"/>
              </a:spcAft>
            </a:pPr>
            <a:r>
              <a:rPr sz="1050" b="0" i="0">
                <a:solidFill>
                  <a:srgbClr val="CFE8F3"/>
                </a:solidFill>
                <a:latin typeface="Consolas"/>
              </a:rPr>
              <a:t>        Desenvolvedor (Persona)</a:t>
            </a:r>
          </a:p>
          <a:p>
            <a:pPr>
              <a:spcAft>
                <a:spcPts val="0"/>
              </a:spcAft>
            </a:pPr>
            <a:r>
              <a:rPr sz="1050" b="0" i="0">
                <a:solidFill>
                  <a:srgbClr val="CFE8F3"/>
                </a:solidFill>
                <a:latin typeface="Consolas"/>
              </a:rPr>
              <a:t>                |</a:t>
            </a:r>
          </a:p>
          <a:p>
            <a:pPr>
              <a:spcAft>
                <a:spcPts val="0"/>
              </a:spcAft>
            </a:pPr>
            <a:r>
              <a:rPr sz="1050" b="0" i="0">
                <a:solidFill>
                  <a:srgbClr val="CFE8F3"/>
                </a:solidFill>
                <a:latin typeface="Consolas"/>
              </a:rPr>
              <a:t>                |  requisitos em linguagem natural</a:t>
            </a:r>
          </a:p>
          <a:p>
            <a:pPr>
              <a:spcAft>
                <a:spcPts val="0"/>
              </a:spcAft>
            </a:pPr>
            <a:r>
              <a:rPr sz="1050" b="0" i="0">
                <a:solidFill>
                  <a:srgbClr val="CFE8F3"/>
                </a:solidFill>
                <a:latin typeface="Consolas"/>
              </a:rPr>
              <a:t>                v</a:t>
            </a:r>
          </a:p>
          <a:p>
            <a:pPr>
              <a:spcAft>
                <a:spcPts val="0"/>
              </a:spcAft>
            </a:pPr>
            <a:r>
              <a:rPr sz="1050" b="0" i="0">
                <a:solidFill>
                  <a:srgbClr val="CFE8F3"/>
                </a:solidFill>
                <a:latin typeface="Consolas"/>
              </a:rPr>
              <a:t>          +--------------+</a:t>
            </a:r>
          </a:p>
          <a:p>
            <a:pPr>
              <a:spcAft>
                <a:spcPts val="0"/>
              </a:spcAft>
            </a:pPr>
            <a:r>
              <a:rPr sz="1050" b="0" i="0">
                <a:solidFill>
                  <a:srgbClr val="CFE8F3"/>
                </a:solidFill>
                <a:latin typeface="Consolas"/>
              </a:rPr>
              <a:t>          |  Fastest CLI |  v0.1.0  (TypeScript/Node.js)</a:t>
            </a:r>
          </a:p>
          <a:p>
            <a:pPr>
              <a:spcAft>
                <a:spcPts val="0"/>
              </a:spcAft>
            </a:pPr>
            <a:r>
              <a:rPr sz="1050" b="0" i="0">
                <a:solidFill>
                  <a:srgbClr val="CFE8F3"/>
                </a:solidFill>
                <a:latin typeface="Consolas"/>
              </a:rPr>
              <a:t>          +--------------+</a:t>
            </a:r>
          </a:p>
          <a:p>
            <a:pPr>
              <a:spcAft>
                <a:spcPts val="0"/>
              </a:spcAft>
            </a:pPr>
            <a:r>
              <a:rPr sz="1050" b="0" i="0">
                <a:solidFill>
                  <a:srgbClr val="CFE8F3"/>
                </a:solidFill>
                <a:latin typeface="Consolas"/>
              </a:rPr>
              <a:t>            |        |        |</a:t>
            </a:r>
          </a:p>
          <a:p>
            <a:pPr>
              <a:spcAft>
                <a:spcPts val="0"/>
              </a:spcAft>
            </a:pPr>
            <a:r>
              <a:rPr sz="1050" b="0" i="0">
                <a:solidFill>
                  <a:srgbClr val="CFE8F3"/>
                </a:solidFill>
                <a:latin typeface="Consolas"/>
              </a:rPr>
              <a:t>            v        v        v</a:t>
            </a:r>
          </a:p>
          <a:p>
            <a:pPr>
              <a:spcAft>
                <a:spcPts val="0"/>
              </a:spcAft>
            </a:pPr>
            <a:r>
              <a:rPr sz="1050" b="0" i="0">
                <a:solidFill>
                  <a:srgbClr val="CFE8F3"/>
                </a:solidFill>
                <a:latin typeface="Consolas"/>
              </a:rPr>
              <a:t>        +-------+ +--------+ +-------------+</a:t>
            </a:r>
          </a:p>
          <a:p>
            <a:pPr>
              <a:spcAft>
                <a:spcPts val="0"/>
              </a:spcAft>
            </a:pPr>
            <a:r>
              <a:rPr sz="1050" b="0" i="0">
                <a:solidFill>
                  <a:srgbClr val="CFE8F3"/>
                </a:solidFill>
                <a:latin typeface="Consolas"/>
              </a:rPr>
              <a:t>        |OpenAI | |Anthro- | | Jest /      |</a:t>
            </a:r>
          </a:p>
          <a:p>
            <a:pPr>
              <a:spcAft>
                <a:spcPts val="0"/>
              </a:spcAft>
            </a:pPr>
            <a:r>
              <a:rPr sz="1050" b="0" i="0">
                <a:solidFill>
                  <a:srgbClr val="CFE8F3"/>
                </a:solidFill>
                <a:latin typeface="Consolas"/>
              </a:rPr>
              <a:t>        | API   | |pic API | | Vitest      |</a:t>
            </a:r>
          </a:p>
          <a:p>
            <a:pPr>
              <a:spcAft>
                <a:spcPts val="0"/>
              </a:spcAft>
            </a:pPr>
            <a:r>
              <a:rPr sz="1050" b="0" i="0">
                <a:solidFill>
                  <a:srgbClr val="CFE8F3"/>
                </a:solidFill>
                <a:latin typeface="Consolas"/>
              </a:rPr>
              <a:t>        +-------+ +--------+ +------+------+</a:t>
            </a:r>
          </a:p>
          <a:p>
            <a:pPr>
              <a:spcAft>
                <a:spcPts val="0"/>
              </a:spcAft>
            </a:pPr>
            <a:r>
              <a:rPr sz="1050" b="0" i="0">
                <a:solidFill>
                  <a:srgbClr val="CFE8F3"/>
                </a:solidFill>
                <a:latin typeface="Consolas"/>
              </a:rPr>
              <a:t>                                    |</a:t>
            </a:r>
          </a:p>
          <a:p>
            <a:pPr>
              <a:spcAft>
                <a:spcPts val="0"/>
              </a:spcAft>
            </a:pPr>
            <a:r>
              <a:rPr sz="1050" b="0" i="0">
                <a:solidFill>
                  <a:srgbClr val="CFE8F3"/>
                </a:solidFill>
                <a:latin typeface="Consolas"/>
              </a:rPr>
              <a:t>                                    v</a:t>
            </a:r>
          </a:p>
          <a:p>
            <a:pPr>
              <a:spcAft>
                <a:spcPts val="0"/>
              </a:spcAft>
            </a:pPr>
            <a:r>
              <a:rPr sz="1050" b="0" i="0">
                <a:solidFill>
                  <a:srgbClr val="CFE8F3"/>
                </a:solidFill>
                <a:latin typeface="Consolas"/>
              </a:rPr>
              <a:t>                            Relatorios de Cobertura</a:t>
            </a:r>
          </a:p>
        </p:txBody>
      </p:sp>
      <p:sp>
        <p:nvSpPr>
          <p:cNvPr id="8" name="TextBox 7"/>
          <p:cNvSpPr txBox="1"/>
          <p:nvPr/>
        </p:nvSpPr>
        <p:spPr>
          <a:xfrm>
            <a:off x="548640" y="4416552"/>
            <a:ext cx="11094415" cy="1243584"/>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Ator principal: desenvolvedor (via terminal)</a:t>
            </a:r>
          </a:p>
          <a:p>
            <a:pPr>
              <a:spcAft>
                <a:spcPts val="400"/>
              </a:spcAft>
            </a:pPr>
            <a:r>
              <a:rPr sz="1600" b="1" i="0">
                <a:solidFill>
                  <a:srgbClr val="149ECA"/>
                </a:solidFill>
                <a:latin typeface="Calibri"/>
              </a:rPr>
              <a:t>▸ </a:t>
            </a:r>
            <a:r>
              <a:rPr sz="1600" b="0" i="0">
                <a:solidFill>
                  <a:srgbClr val="1B2A36"/>
                </a:solidFill>
                <a:latin typeface="Calibri"/>
              </a:rPr>
              <a:t>Sistema central: Fastest CLI (TypeScript/Node.js)</a:t>
            </a:r>
          </a:p>
          <a:p>
            <a:pPr>
              <a:spcAft>
                <a:spcPts val="400"/>
              </a:spcAft>
            </a:pPr>
            <a:r>
              <a:rPr sz="1600" b="1" i="0">
                <a:solidFill>
                  <a:srgbClr val="149ECA"/>
                </a:solidFill>
                <a:latin typeface="Calibri"/>
              </a:rPr>
              <a:t>▸ </a:t>
            </a:r>
            <a:r>
              <a:rPr sz="1600" b="0" i="0">
                <a:solidFill>
                  <a:srgbClr val="1B2A36"/>
                </a:solidFill>
                <a:latin typeface="Calibri"/>
              </a:rPr>
              <a:t>Externos: OpenAI (gpt-4o-mini), Anthropic (claude-haiku), Jest/Vitest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2 · COMPOSIÇÃO</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Arquitetura C4 — Containers e Integração com IA</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6</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sp>
        <p:nvSpPr>
          <p:cNvPr id="7" name="Rectangle 6"/>
          <p:cNvSpPr/>
          <p:nvPr/>
        </p:nvSpPr>
        <p:spPr>
          <a:xfrm>
            <a:off x="548640" y="1417320"/>
            <a:ext cx="11094415" cy="2578608"/>
          </a:xfrm>
          <a:prstGeom prst="rect">
            <a:avLst/>
          </a:prstGeom>
          <a:solidFill>
            <a:srgbClr val="0E1B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82880" tIns="109728"/>
          <a:lstStyle/>
          <a:p>
            <a:pPr algn="ctr">
              <a:spcAft>
                <a:spcPts val="0"/>
              </a:spcAft>
            </a:pPr>
            <a:r>
              <a:rPr sz="1050" b="0" i="0">
                <a:solidFill>
                  <a:srgbClr val="CFE8F3"/>
                </a:solidFill>
                <a:latin typeface="Consolas"/>
              </a:rPr>
              <a:t>  +------------------------------------------------------+</a:t>
            </a:r>
          </a:p>
          <a:p>
            <a:pPr>
              <a:spcAft>
                <a:spcPts val="0"/>
              </a:spcAft>
            </a:pPr>
            <a:r>
              <a:rPr sz="1050" b="0" i="0">
                <a:solidFill>
                  <a:srgbClr val="CFE8F3"/>
                </a:solidFill>
                <a:latin typeface="Consolas"/>
              </a:rPr>
              <a:t>  |            Fastest CLI Application (TS/Node)         |</a:t>
            </a:r>
          </a:p>
          <a:p>
            <a:pPr>
              <a:spcAft>
                <a:spcPts val="0"/>
              </a:spcAft>
            </a:pPr>
            <a:r>
              <a:rPr sz="1050" b="0" i="0">
                <a:solidFill>
                  <a:srgbClr val="CFE8F3"/>
                </a:solidFill>
                <a:latin typeface="Consolas"/>
              </a:rPr>
              <a:t>  |  +-----------+  +-------------+  +---------------+   |</a:t>
            </a:r>
          </a:p>
          <a:p>
            <a:pPr>
              <a:spcAft>
                <a:spcPts val="0"/>
              </a:spcAft>
            </a:pPr>
            <a:r>
              <a:rPr sz="1050" b="0" i="0">
                <a:solidFill>
                  <a:srgbClr val="CFE8F3"/>
                </a:solidFill>
                <a:latin typeface="Consolas"/>
              </a:rPr>
              <a:t>  |  | CLI Layer |  | Services    |  | Providers     |   |</a:t>
            </a:r>
          </a:p>
          <a:p>
            <a:pPr>
              <a:spcAft>
                <a:spcPts val="0"/>
              </a:spcAft>
            </a:pPr>
            <a:r>
              <a:rPr sz="1050" b="0" i="0">
                <a:solidFill>
                  <a:srgbClr val="CFE8F3"/>
                </a:solidFill>
                <a:latin typeface="Consolas"/>
              </a:rPr>
              <a:t>  |  | generate  |  | LLM Service |  | OpenAI        |   |</a:t>
            </a:r>
          </a:p>
          <a:p>
            <a:pPr>
              <a:spcAft>
                <a:spcPts val="0"/>
              </a:spcAft>
            </a:pPr>
            <a:r>
              <a:rPr sz="1050" b="0" i="0">
                <a:solidFill>
                  <a:srgbClr val="CFE8F3"/>
                </a:solidFill>
                <a:latin typeface="Consolas"/>
              </a:rPr>
              <a:t>  |  | batch     |  | TestGen     |  | Anthropic     |   |</a:t>
            </a:r>
          </a:p>
          <a:p>
            <a:pPr>
              <a:spcAft>
                <a:spcPts val="0"/>
              </a:spcAft>
            </a:pPr>
            <a:r>
              <a:rPr sz="1050" b="0" i="0">
                <a:solidFill>
                  <a:srgbClr val="CFE8F3"/>
                </a:solidFill>
                <a:latin typeface="Consolas"/>
              </a:rPr>
              <a:t>  |  | doctor    |  | Coverage    |  | Factory       |   |</a:t>
            </a:r>
          </a:p>
          <a:p>
            <a:pPr>
              <a:spcAft>
                <a:spcPts val="0"/>
              </a:spcAft>
            </a:pPr>
            <a:r>
              <a:rPr sz="1050" b="0" i="0">
                <a:solidFill>
                  <a:srgbClr val="CFE8F3"/>
                </a:solidFill>
                <a:latin typeface="Consolas"/>
              </a:rPr>
              <a:t>  |  | config    |  | Cache       |  |               |   |</a:t>
            </a:r>
          </a:p>
          <a:p>
            <a:pPr>
              <a:spcAft>
                <a:spcPts val="0"/>
              </a:spcAft>
            </a:pPr>
            <a:r>
              <a:rPr sz="1050" b="0" i="0">
                <a:solidFill>
                  <a:srgbClr val="CFE8F3"/>
                </a:solidFill>
                <a:latin typeface="Consolas"/>
              </a:rPr>
              <a:t>  |  | init      |  |             |  |               |   |</a:t>
            </a:r>
          </a:p>
          <a:p>
            <a:pPr>
              <a:spcAft>
                <a:spcPts val="0"/>
              </a:spcAft>
            </a:pPr>
            <a:r>
              <a:rPr sz="1050" b="0" i="0">
                <a:solidFill>
                  <a:srgbClr val="CFE8F3"/>
                </a:solidFill>
                <a:latin typeface="Consolas"/>
              </a:rPr>
              <a:t>  |  +-----------+  +-------------+  +---------------+   |</a:t>
            </a:r>
          </a:p>
          <a:p>
            <a:pPr>
              <a:spcAft>
                <a:spcPts val="0"/>
              </a:spcAft>
            </a:pPr>
            <a:r>
              <a:rPr sz="1050" b="0" i="0">
                <a:solidFill>
                  <a:srgbClr val="CFE8F3"/>
                </a:solidFill>
                <a:latin typeface="Consolas"/>
              </a:rPr>
              <a:t>  +------------------------------------------------------+</a:t>
            </a:r>
          </a:p>
          <a:p>
            <a:pPr>
              <a:spcAft>
                <a:spcPts val="0"/>
              </a:spcAft>
            </a:pPr>
            <a:r>
              <a:rPr sz="1050" b="0" i="0">
                <a:solidFill>
                  <a:srgbClr val="CFE8F3"/>
                </a:solidFill>
                <a:latin typeface="Consolas"/>
              </a:rPr>
              <a:t>         |                         |</a:t>
            </a:r>
          </a:p>
          <a:p>
            <a:pPr>
              <a:spcAft>
                <a:spcPts val="0"/>
              </a:spcAft>
            </a:pPr>
            <a:r>
              <a:rPr sz="1050" b="0" i="0">
                <a:solidFill>
                  <a:srgbClr val="CFE8F3"/>
                </a:solidFill>
                <a:latin typeface="Consolas"/>
              </a:rPr>
              <a:t>         v                         v</a:t>
            </a:r>
          </a:p>
          <a:p>
            <a:pPr>
              <a:spcAft>
                <a:spcPts val="0"/>
              </a:spcAft>
            </a:pPr>
            <a:r>
              <a:rPr sz="1050" b="0" i="0">
                <a:solidFill>
                  <a:srgbClr val="CFE8F3"/>
                </a:solidFill>
                <a:latin typeface="Consolas"/>
              </a:rPr>
              <a:t>   File System              LLM APIs (OpenAI/Anthropic)</a:t>
            </a:r>
          </a:p>
        </p:txBody>
      </p:sp>
      <p:sp>
        <p:nvSpPr>
          <p:cNvPr id="8" name="TextBox 7"/>
          <p:cNvSpPr txBox="1"/>
          <p:nvPr/>
        </p:nvSpPr>
        <p:spPr>
          <a:xfrm>
            <a:off x="548640" y="4087368"/>
            <a:ext cx="11094415" cy="1554480"/>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LLM Service orquestra as chamadas aos provedores</a:t>
            </a:r>
          </a:p>
          <a:p>
            <a:pPr>
              <a:spcAft>
                <a:spcPts val="400"/>
              </a:spcAft>
            </a:pPr>
            <a:r>
              <a:rPr sz="1600" b="1" i="0">
                <a:solidFill>
                  <a:srgbClr val="149ECA"/>
                </a:solidFill>
                <a:latin typeface="Calibri"/>
              </a:rPr>
              <a:t>▸ </a:t>
            </a:r>
            <a:r>
              <a:rPr sz="1600" b="0" i="0">
                <a:solidFill>
                  <a:srgbClr val="1B2A36"/>
                </a:solidFill>
                <a:latin typeface="Calibri"/>
              </a:rPr>
              <a:t>Provider Factory seleciona OpenAI ou Anthropic por configuração</a:t>
            </a:r>
          </a:p>
          <a:p>
            <a:pPr>
              <a:spcAft>
                <a:spcPts val="400"/>
              </a:spcAft>
            </a:pPr>
            <a:r>
              <a:rPr sz="1600" b="1" i="0">
                <a:solidFill>
                  <a:srgbClr val="149ECA"/>
                </a:solidFill>
                <a:latin typeface="Calibri"/>
              </a:rPr>
              <a:t>▸ </a:t>
            </a:r>
            <a:r>
              <a:rPr sz="1600" b="0" i="0">
                <a:solidFill>
                  <a:srgbClr val="1B2A36"/>
                </a:solidFill>
                <a:latin typeface="Calibri"/>
              </a:rPr>
              <a:t>Cache Service evita chamadas duplicadas (economia de custo)</a:t>
            </a:r>
          </a:p>
          <a:p>
            <a:pPr>
              <a:spcAft>
                <a:spcPts val="400"/>
              </a:spcAft>
            </a:pPr>
            <a:r>
              <a:rPr sz="1600" b="1" i="0">
                <a:solidFill>
                  <a:srgbClr val="149ECA"/>
                </a:solidFill>
                <a:latin typeface="Calibri"/>
              </a:rPr>
              <a:t>▸ </a:t>
            </a:r>
            <a:r>
              <a:rPr sz="1600" b="0" i="0">
                <a:solidFill>
                  <a:srgbClr val="1B2A36"/>
                </a:solidFill>
                <a:latin typeface="Calibri"/>
              </a:rPr>
              <a:t>Test Generator valida e formata o output da 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2 · COMPOSIÇÃO</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Decisões Arquiteturais e Trade-offs</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7</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graphicFrame>
        <p:nvGraphicFramePr>
          <p:cNvPr id="7" name="Table 6"/>
          <p:cNvGraphicFramePr>
            <a:graphicFrameLocks noGrp="1"/>
          </p:cNvGraphicFramePr>
          <p:nvPr/>
        </p:nvGraphicFramePr>
        <p:xfrm>
          <a:off x="548640" y="1417320"/>
          <a:ext cx="11094414" cy="2304288"/>
        </p:xfrm>
        <a:graphic>
          <a:graphicData uri="http://schemas.openxmlformats.org/drawingml/2006/table">
            <a:tbl>
              <a:tblPr firstRow="1" bandRow="1">
                <a:tableStyleId>{5C22544A-7EE6-4342-B048-85BDC9FD1C3A}</a:tableStyleId>
              </a:tblPr>
              <a:tblGrid>
                <a:gridCol w="3328324"/>
                <a:gridCol w="3328324"/>
                <a:gridCol w="4437766"/>
              </a:tblGrid>
              <a:tr h="384048">
                <a:tc>
                  <a:txBody>
                    <a:bodyPr wrap="square"/>
                    <a:lstStyle/>
                    <a:p>
                      <a:r>
                        <a:rPr sz="1250" b="1" i="0">
                          <a:solidFill>
                            <a:srgbClr val="FFFFFF"/>
                          </a:solidFill>
                          <a:latin typeface="Calibri"/>
                        </a:rPr>
                        <a:t>Decisão</a:t>
                      </a:r>
                    </a:p>
                  </a:txBody>
                  <a:tcPr marL="73152" marR="73152" marT="18288" marB="18288" anchor="ctr">
                    <a:solidFill>
                      <a:srgbClr val="0B2447"/>
                    </a:solidFill>
                  </a:tcPr>
                </a:tc>
                <a:tc>
                  <a:txBody>
                    <a:bodyPr wrap="square"/>
                    <a:lstStyle/>
                    <a:p>
                      <a:r>
                        <a:rPr sz="1250" b="1" i="0">
                          <a:solidFill>
                            <a:srgbClr val="FFFFFF"/>
                          </a:solidFill>
                          <a:latin typeface="Calibri"/>
                        </a:rPr>
                        <a:t>Alternativa Rejeitada</a:t>
                      </a:r>
                    </a:p>
                  </a:txBody>
                  <a:tcPr marL="73152" marR="73152" marT="18288" marB="18288" anchor="ctr">
                    <a:solidFill>
                      <a:srgbClr val="0B2447"/>
                    </a:solidFill>
                  </a:tcPr>
                </a:tc>
                <a:tc>
                  <a:txBody>
                    <a:bodyPr wrap="square"/>
                    <a:lstStyle/>
                    <a:p>
                      <a:r>
                        <a:rPr sz="1250" b="1" i="0">
                          <a:solidFill>
                            <a:srgbClr val="FFFFFF"/>
                          </a:solidFill>
                          <a:latin typeface="Calibri"/>
                        </a:rPr>
                        <a:t>Justificativa</a:t>
                      </a:r>
                    </a:p>
                  </a:txBody>
                  <a:tcPr marL="73152" marR="73152" marT="18288" marB="18288" anchor="ctr">
                    <a:solidFill>
                      <a:srgbClr val="0B2447"/>
                    </a:solidFill>
                  </a:tcPr>
                </a:tc>
              </a:tr>
              <a:tr h="384048">
                <a:tc>
                  <a:txBody>
                    <a:bodyPr wrap="square"/>
                    <a:lstStyle/>
                    <a:p>
                      <a:r>
                        <a:rPr sz="1200" b="0" i="0">
                          <a:solidFill>
                            <a:srgbClr val="1B2A36"/>
                          </a:solidFill>
                          <a:latin typeface="Calibri"/>
                        </a:rPr>
                        <a:t>CLI (terminal)</a:t>
                      </a:r>
                    </a:p>
                  </a:txBody>
                  <a:tcPr marL="73152" marR="73152" marT="18288" marB="18288" anchor="ctr">
                    <a:solidFill>
                      <a:srgbClr val="FFFFFF"/>
                    </a:solidFill>
                  </a:tcPr>
                </a:tc>
                <a:tc>
                  <a:txBody>
                    <a:bodyPr wrap="square"/>
                    <a:lstStyle/>
                    <a:p>
                      <a:r>
                        <a:rPr sz="1200" b="0" i="0">
                          <a:solidFill>
                            <a:srgbClr val="1B2A36"/>
                          </a:solidFill>
                          <a:latin typeface="Calibri"/>
                        </a:rPr>
                        <a:t>App web / extensão IDE</a:t>
                      </a:r>
                    </a:p>
                  </a:txBody>
                  <a:tcPr marL="73152" marR="73152" marT="18288" marB="18288" anchor="ctr">
                    <a:solidFill>
                      <a:srgbClr val="FFFFFF"/>
                    </a:solidFill>
                  </a:tcPr>
                </a:tc>
                <a:tc>
                  <a:txBody>
                    <a:bodyPr wrap="square"/>
                    <a:lstStyle/>
                    <a:p>
                      <a:r>
                        <a:rPr sz="1200" b="0" i="0">
                          <a:solidFill>
                            <a:srgbClr val="1B2A36"/>
                          </a:solidFill>
                          <a:latin typeface="Calibri"/>
                        </a:rPr>
                        <a:t>Menor fricção, integra com CI/CD</a:t>
                      </a:r>
                    </a:p>
                  </a:txBody>
                  <a:tcPr marL="73152" marR="73152" marT="18288" marB="18288" anchor="ctr">
                    <a:solidFill>
                      <a:srgbClr val="FFFFFF"/>
                    </a:solidFill>
                  </a:tcPr>
                </a:tc>
              </a:tr>
              <a:tr h="384048">
                <a:tc>
                  <a:txBody>
                    <a:bodyPr wrap="square"/>
                    <a:lstStyle/>
                    <a:p>
                      <a:r>
                        <a:rPr sz="1200" b="0" i="0">
                          <a:solidFill>
                            <a:srgbClr val="1B2A36"/>
                          </a:solidFill>
                          <a:latin typeface="Calibri"/>
                        </a:rPr>
                        <a:t>Multi-provider (Factory)</a:t>
                      </a:r>
                    </a:p>
                  </a:txBody>
                  <a:tcPr marL="73152" marR="73152" marT="18288" marB="18288" anchor="ctr">
                    <a:solidFill>
                      <a:srgbClr val="EAF1F6"/>
                    </a:solidFill>
                  </a:tcPr>
                </a:tc>
                <a:tc>
                  <a:txBody>
                    <a:bodyPr wrap="square"/>
                    <a:lstStyle/>
                    <a:p>
                      <a:r>
                        <a:rPr sz="1200" b="0" i="0">
                          <a:solidFill>
                            <a:srgbClr val="1B2A36"/>
                          </a:solidFill>
                          <a:latin typeface="Calibri"/>
                        </a:rPr>
                        <a:t>Apenas OpenAI</a:t>
                      </a:r>
                    </a:p>
                  </a:txBody>
                  <a:tcPr marL="73152" marR="73152" marT="18288" marB="18288" anchor="ctr">
                    <a:solidFill>
                      <a:srgbClr val="EAF1F6"/>
                    </a:solidFill>
                  </a:tcPr>
                </a:tc>
                <a:tc>
                  <a:txBody>
                    <a:bodyPr wrap="square"/>
                    <a:lstStyle/>
                    <a:p>
                      <a:r>
                        <a:rPr sz="1200" b="0" i="0">
                          <a:solidFill>
                            <a:srgbClr val="1B2A36"/>
                          </a:solidFill>
                          <a:latin typeface="Calibri"/>
                        </a:rPr>
                        <a:t>Resiliência, evita vendor lock-in</a:t>
                      </a:r>
                    </a:p>
                  </a:txBody>
                  <a:tcPr marL="73152" marR="73152" marT="18288" marB="18288" anchor="ctr">
                    <a:solidFill>
                      <a:srgbClr val="EAF1F6"/>
                    </a:solidFill>
                  </a:tcPr>
                </a:tc>
              </a:tr>
              <a:tr h="384048">
                <a:tc>
                  <a:txBody>
                    <a:bodyPr wrap="square"/>
                    <a:lstStyle/>
                    <a:p>
                      <a:r>
                        <a:rPr sz="1200" b="0" i="0">
                          <a:solidFill>
                            <a:srgbClr val="1B2A36"/>
                          </a:solidFill>
                          <a:latin typeface="Calibri"/>
                        </a:rPr>
                        <a:t>Cache local em arquivo</a:t>
                      </a:r>
                    </a:p>
                  </a:txBody>
                  <a:tcPr marL="73152" marR="73152" marT="18288" marB="18288" anchor="ctr">
                    <a:solidFill>
                      <a:srgbClr val="FFFFFF"/>
                    </a:solidFill>
                  </a:tcPr>
                </a:tc>
                <a:tc>
                  <a:txBody>
                    <a:bodyPr wrap="square"/>
                    <a:lstStyle/>
                    <a:p>
                      <a:r>
                        <a:rPr sz="1200" b="0" i="0">
                          <a:solidFill>
                            <a:srgbClr val="1B2A36"/>
                          </a:solidFill>
                          <a:latin typeface="Calibri"/>
                        </a:rPr>
                        <a:t>Redis / banco</a:t>
                      </a:r>
                    </a:p>
                  </a:txBody>
                  <a:tcPr marL="73152" marR="73152" marT="18288" marB="18288" anchor="ctr">
                    <a:solidFill>
                      <a:srgbClr val="FFFFFF"/>
                    </a:solidFill>
                  </a:tcPr>
                </a:tc>
                <a:tc>
                  <a:txBody>
                    <a:bodyPr wrap="square"/>
                    <a:lstStyle/>
                    <a:p>
                      <a:r>
                        <a:rPr sz="1200" b="0" i="0">
                          <a:solidFill>
                            <a:srgbClr val="1B2A36"/>
                          </a:solidFill>
                          <a:latin typeface="Calibri"/>
                        </a:rPr>
                        <a:t>Simplicidade, zero infra</a:t>
                      </a:r>
                    </a:p>
                  </a:txBody>
                  <a:tcPr marL="73152" marR="73152" marT="18288" marB="18288" anchor="ctr">
                    <a:solidFill>
                      <a:srgbClr val="FFFFFF"/>
                    </a:solidFill>
                  </a:tcPr>
                </a:tc>
              </a:tr>
              <a:tr h="384048">
                <a:tc>
                  <a:txBody>
                    <a:bodyPr wrap="square"/>
                    <a:lstStyle/>
                    <a:p>
                      <a:r>
                        <a:rPr sz="1200" b="0" i="0">
                          <a:solidFill>
                            <a:srgbClr val="1B2A36"/>
                          </a:solidFill>
                          <a:latin typeface="Calibri"/>
                        </a:rPr>
                        <a:t>Temperature 0.2</a:t>
                      </a:r>
                    </a:p>
                  </a:txBody>
                  <a:tcPr marL="73152" marR="73152" marT="18288" marB="18288" anchor="ctr">
                    <a:solidFill>
                      <a:srgbClr val="EAF1F6"/>
                    </a:solidFill>
                  </a:tcPr>
                </a:tc>
                <a:tc>
                  <a:txBody>
                    <a:bodyPr wrap="square"/>
                    <a:lstStyle/>
                    <a:p>
                      <a:r>
                        <a:rPr sz="1200" b="0" i="0">
                          <a:solidFill>
                            <a:srgbClr val="1B2A36"/>
                          </a:solidFill>
                          <a:latin typeface="Calibri"/>
                        </a:rPr>
                        <a:t>Temperature alta</a:t>
                      </a:r>
                    </a:p>
                  </a:txBody>
                  <a:tcPr marL="73152" marR="73152" marT="18288" marB="18288" anchor="ctr">
                    <a:solidFill>
                      <a:srgbClr val="EAF1F6"/>
                    </a:solidFill>
                  </a:tcPr>
                </a:tc>
                <a:tc>
                  <a:txBody>
                    <a:bodyPr wrap="square"/>
                    <a:lstStyle/>
                    <a:p>
                      <a:r>
                        <a:rPr sz="1200" b="0" i="0">
                          <a:solidFill>
                            <a:srgbClr val="1B2A36"/>
                          </a:solidFill>
                          <a:latin typeface="Calibri"/>
                        </a:rPr>
                        <a:t>Testes determinísticos</a:t>
                      </a:r>
                    </a:p>
                  </a:txBody>
                  <a:tcPr marL="73152" marR="73152" marT="18288" marB="18288" anchor="ctr">
                    <a:solidFill>
                      <a:srgbClr val="EAF1F6"/>
                    </a:solidFill>
                  </a:tcPr>
                </a:tc>
              </a:tr>
              <a:tr h="384048">
                <a:tc>
                  <a:txBody>
                    <a:bodyPr wrap="square"/>
                    <a:lstStyle/>
                    <a:p>
                      <a:r>
                        <a:rPr sz="1200" b="0" i="0">
                          <a:solidFill>
                            <a:srgbClr val="1B2A36"/>
                          </a:solidFill>
                          <a:latin typeface="Calibri"/>
                        </a:rPr>
                        <a:t>Jest + Vitest</a:t>
                      </a:r>
                    </a:p>
                  </a:txBody>
                  <a:tcPr marL="73152" marR="73152" marT="18288" marB="18288" anchor="ctr">
                    <a:solidFill>
                      <a:srgbClr val="FFFFFF"/>
                    </a:solidFill>
                  </a:tcPr>
                </a:tc>
                <a:tc>
                  <a:txBody>
                    <a:bodyPr wrap="square"/>
                    <a:lstStyle/>
                    <a:p>
                      <a:r>
                        <a:rPr sz="1200" b="0" i="0">
                          <a:solidFill>
                            <a:srgbClr val="1B2A36"/>
                          </a:solidFill>
                          <a:latin typeface="Calibri"/>
                        </a:rPr>
                        <a:t>Apenas Jest</a:t>
                      </a:r>
                    </a:p>
                  </a:txBody>
                  <a:tcPr marL="73152" marR="73152" marT="18288" marB="18288" anchor="ctr">
                    <a:solidFill>
                      <a:srgbClr val="FFFFFF"/>
                    </a:solidFill>
                  </a:tcPr>
                </a:tc>
                <a:tc>
                  <a:txBody>
                    <a:bodyPr wrap="square"/>
                    <a:lstStyle/>
                    <a:p>
                      <a:r>
                        <a:rPr sz="1200" b="0" i="0">
                          <a:solidFill>
                            <a:srgbClr val="1B2A36"/>
                          </a:solidFill>
                          <a:latin typeface="Calibri"/>
                        </a:rPr>
                        <a:t>Vitest é mais rápido e cresce</a:t>
                      </a:r>
                    </a:p>
                  </a:txBody>
                  <a:tcPr marL="73152" marR="73152" marT="18288" marB="18288" anchor="ctr">
                    <a:solidFill>
                      <a:srgbClr val="FFFFFF"/>
                    </a:solidFill>
                  </a:tcPr>
                </a:tc>
              </a:tr>
            </a:tbl>
          </a:graphicData>
        </a:graphic>
      </p:graphicFrame>
      <p:sp>
        <p:nvSpPr>
          <p:cNvPr id="8" name="TextBox 7"/>
          <p:cNvSpPr txBox="1"/>
          <p:nvPr/>
        </p:nvSpPr>
        <p:spPr>
          <a:xfrm>
            <a:off x="548640" y="3904488"/>
            <a:ext cx="11094415" cy="621792"/>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Trade-offs aceitos: dependência de API (cache+retry+dry-run), custo por chamada (modelos econômicos), código enviado a APIs (permissões+dry-run)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2 · COMPOSIÇÃO</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Catálogo de Prompts — 3 Prompts Centrais</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8</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sp>
        <p:nvSpPr>
          <p:cNvPr id="7" name="TextBox 6"/>
          <p:cNvSpPr txBox="1"/>
          <p:nvPr/>
        </p:nvSpPr>
        <p:spPr>
          <a:xfrm>
            <a:off x="548640" y="1417320"/>
            <a:ext cx="11094415" cy="365760"/>
          </a:xfrm>
          <a:prstGeom prst="rect">
            <a:avLst/>
          </a:prstGeom>
          <a:noFill/>
        </p:spPr>
        <p:txBody>
          <a:bodyPr wrap="square" anchor="t" lIns="45720" rIns="45720" tIns="18288" bIns="18288">
            <a:spAutoFit/>
          </a:bodyPr>
          <a:lstStyle/>
          <a:p>
            <a:r>
              <a:rPr sz="1700" b="1" i="0">
                <a:solidFill>
                  <a:srgbClr val="149ECA"/>
                </a:solidFill>
                <a:latin typeface="Calibri"/>
              </a:rPr>
              <a:t>1. buildTestPrompt (principal)</a:t>
            </a:r>
          </a:p>
        </p:txBody>
      </p:sp>
      <p:sp>
        <p:nvSpPr>
          <p:cNvPr id="8" name="TextBox 7"/>
          <p:cNvSpPr txBox="1"/>
          <p:nvPr/>
        </p:nvSpPr>
        <p:spPr>
          <a:xfrm>
            <a:off x="548640" y="1828800"/>
            <a:ext cx="11094415" cy="932688"/>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Entrada: código-fonte, tipo (unit/integration/use-case), framework</a:t>
            </a:r>
          </a:p>
          <a:p>
            <a:pPr>
              <a:spcAft>
                <a:spcPts val="400"/>
              </a:spcAft>
            </a:pPr>
            <a:r>
              <a:rPr sz="1600" b="1" i="0">
                <a:solidFill>
                  <a:srgbClr val="149ECA"/>
                </a:solidFill>
                <a:latin typeface="Calibri"/>
              </a:rPr>
              <a:t>▸ </a:t>
            </a:r>
            <a:r>
              <a:rPr sz="1600" b="0" i="0">
                <a:solidFill>
                  <a:srgbClr val="1B2A36"/>
                </a:solidFill>
                <a:latin typeface="Calibri"/>
              </a:rPr>
              <a:t>Saída: arquivo de teste completo · temperature 0.2, max_tokens 4096</a:t>
            </a:r>
          </a:p>
        </p:txBody>
      </p:sp>
      <p:sp>
        <p:nvSpPr>
          <p:cNvPr id="9" name="TextBox 8"/>
          <p:cNvSpPr txBox="1"/>
          <p:nvPr/>
        </p:nvSpPr>
        <p:spPr>
          <a:xfrm>
            <a:off x="548640" y="2761488"/>
            <a:ext cx="11094415" cy="365760"/>
          </a:xfrm>
          <a:prstGeom prst="rect">
            <a:avLst/>
          </a:prstGeom>
          <a:noFill/>
        </p:spPr>
        <p:txBody>
          <a:bodyPr wrap="square" anchor="t" lIns="45720" rIns="45720" tIns="18288" bIns="18288">
            <a:spAutoFit/>
          </a:bodyPr>
          <a:lstStyle/>
          <a:p>
            <a:r>
              <a:rPr sz="1700" b="1" i="0">
                <a:solidFill>
                  <a:srgbClr val="149ECA"/>
                </a:solidFill>
                <a:latin typeface="Calibri"/>
              </a:rPr>
              <a:t>2. buildRetryPrompt (correção)</a:t>
            </a:r>
          </a:p>
        </p:txBody>
      </p:sp>
      <p:sp>
        <p:nvSpPr>
          <p:cNvPr id="10" name="TextBox 9"/>
          <p:cNvSpPr txBox="1"/>
          <p:nvPr/>
        </p:nvSpPr>
        <p:spPr>
          <a:xfrm>
            <a:off x="548640" y="3172968"/>
            <a:ext cx="11094415" cy="932688"/>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Entrada: teste gerado + erro de compilação/execução → teste corrigido</a:t>
            </a:r>
          </a:p>
          <a:p>
            <a:pPr>
              <a:spcAft>
                <a:spcPts val="400"/>
              </a:spcAft>
            </a:pPr>
            <a:r>
              <a:rPr sz="1600" b="1" i="0">
                <a:solidFill>
                  <a:srgbClr val="149ECA"/>
                </a:solidFill>
                <a:latin typeface="Calibri"/>
              </a:rPr>
              <a:t>▸ </a:t>
            </a:r>
            <a:r>
              <a:rPr sz="1600" b="0" i="0">
                <a:solidFill>
                  <a:srgbClr val="1B2A36"/>
                </a:solidFill>
                <a:latin typeface="Calibri"/>
              </a:rPr>
              <a:t>Loop de até 3 tentativas com feedback do erro</a:t>
            </a:r>
          </a:p>
        </p:txBody>
      </p:sp>
      <p:sp>
        <p:nvSpPr>
          <p:cNvPr id="11" name="TextBox 10"/>
          <p:cNvSpPr txBox="1"/>
          <p:nvPr/>
        </p:nvSpPr>
        <p:spPr>
          <a:xfrm>
            <a:off x="548640" y="4105656"/>
            <a:ext cx="11094415" cy="365760"/>
          </a:xfrm>
          <a:prstGeom prst="rect">
            <a:avLst/>
          </a:prstGeom>
          <a:noFill/>
        </p:spPr>
        <p:txBody>
          <a:bodyPr wrap="square" anchor="t" lIns="45720" rIns="45720" tIns="18288" bIns="18288">
            <a:spAutoFit/>
          </a:bodyPr>
          <a:lstStyle/>
          <a:p>
            <a:r>
              <a:rPr sz="1700" b="1" i="0">
                <a:solidFill>
                  <a:srgbClr val="149ECA"/>
                </a:solidFill>
                <a:latin typeface="Calibri"/>
              </a:rPr>
              <a:t>3. buildCoverageSuggestionPrompt (otimização)</a:t>
            </a:r>
          </a:p>
        </p:txBody>
      </p:sp>
      <p:sp>
        <p:nvSpPr>
          <p:cNvPr id="12" name="TextBox 11"/>
          <p:cNvSpPr txBox="1"/>
          <p:nvPr/>
        </p:nvSpPr>
        <p:spPr>
          <a:xfrm>
            <a:off x="548640" y="4517136"/>
            <a:ext cx="11094415" cy="932688"/>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Entrada: relatório de cobertura + código → sugestões de testes adicionais</a:t>
            </a:r>
          </a:p>
          <a:p>
            <a:pPr>
              <a:spcAft>
                <a:spcPts val="400"/>
              </a:spcAft>
            </a:pPr>
            <a:r>
              <a:rPr sz="1600" b="1" i="0">
                <a:solidFill>
                  <a:srgbClr val="149ECA"/>
                </a:solidFill>
                <a:latin typeface="Calibri"/>
              </a:rPr>
              <a:t>▸ </a:t>
            </a:r>
            <a:r>
              <a:rPr sz="1600" b="0" i="0">
                <a:solidFill>
                  <a:srgbClr val="1B2A36"/>
                </a:solidFill>
                <a:latin typeface="Calibri"/>
              </a:rPr>
              <a:t>Prompts versionados no código (rastreabilidade e reproducibilidade)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2 · COMPOSIÇÃO</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Canvas de Experimento — Hipótese e GO/NO-GO</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9</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sp>
        <p:nvSpPr>
          <p:cNvPr id="7" name="Rectangle 6"/>
          <p:cNvSpPr/>
          <p:nvPr/>
        </p:nvSpPr>
        <p:spPr>
          <a:xfrm>
            <a:off x="548640" y="1417320"/>
            <a:ext cx="11094415" cy="713232"/>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500" b="1" i="1">
                <a:solidFill>
                  <a:srgbClr val="0B2447"/>
                </a:solidFill>
                <a:latin typeface="Calibri"/>
              </a:rPr>
              <a:t>Hipótese: uma CLI alimentada por IA reduz o tempo de escrita de testes em 60%, mantendo qualidade de cobertura equivalente.</a:t>
            </a:r>
          </a:p>
        </p:txBody>
      </p:sp>
      <p:sp>
        <p:nvSpPr>
          <p:cNvPr id="8" name="Rectangle 7"/>
          <p:cNvSpPr/>
          <p:nvPr/>
        </p:nvSpPr>
        <p:spPr>
          <a:xfrm>
            <a:off x="548640" y="1417320"/>
            <a:ext cx="73152" cy="71323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548640" y="2221992"/>
          <a:ext cx="11094413" cy="1920240"/>
        </p:xfrm>
        <a:graphic>
          <a:graphicData uri="http://schemas.openxmlformats.org/drawingml/2006/table">
            <a:tbl>
              <a:tblPr firstRow="1" bandRow="1">
                <a:tableStyleId>{5C22544A-7EE6-4342-B048-85BDC9FD1C3A}</a:tableStyleId>
              </a:tblPr>
              <a:tblGrid>
                <a:gridCol w="4622672"/>
                <a:gridCol w="1849069"/>
                <a:gridCol w="2773603"/>
                <a:gridCol w="1849069"/>
              </a:tblGrid>
              <a:tr h="384048">
                <a:tc>
                  <a:txBody>
                    <a:bodyPr wrap="square"/>
                    <a:lstStyle/>
                    <a:p>
                      <a:r>
                        <a:rPr sz="1250" b="1" i="0">
                          <a:solidFill>
                            <a:srgbClr val="FFFFFF"/>
                          </a:solidFill>
                          <a:latin typeface="Calibri"/>
                        </a:rPr>
                        <a:t>Critério GO</a:t>
                      </a:r>
                    </a:p>
                  </a:txBody>
                  <a:tcPr marL="73152" marR="73152" marT="18288" marB="18288" anchor="ctr">
                    <a:solidFill>
                      <a:srgbClr val="0B2447"/>
                    </a:solidFill>
                  </a:tcPr>
                </a:tc>
                <a:tc>
                  <a:txBody>
                    <a:bodyPr wrap="square"/>
                    <a:lstStyle/>
                    <a:p>
                      <a:r>
                        <a:rPr sz="1250" b="1" i="0">
                          <a:solidFill>
                            <a:srgbClr val="FFFFFF"/>
                          </a:solidFill>
                          <a:latin typeface="Calibri"/>
                        </a:rPr>
                        <a:t>Meta</a:t>
                      </a:r>
                    </a:p>
                  </a:txBody>
                  <a:tcPr marL="73152" marR="73152" marT="18288" marB="18288" anchor="ctr">
                    <a:solidFill>
                      <a:srgbClr val="0B2447"/>
                    </a:solidFill>
                  </a:tcPr>
                </a:tc>
                <a:tc>
                  <a:txBody>
                    <a:bodyPr wrap="square"/>
                    <a:lstStyle/>
                    <a:p>
                      <a:r>
                        <a:rPr sz="1250" b="1" i="0">
                          <a:solidFill>
                            <a:srgbClr val="FFFFFF"/>
                          </a:solidFill>
                          <a:latin typeface="Calibri"/>
                        </a:rPr>
                        <a:t>Resultado</a:t>
                      </a:r>
                    </a:p>
                  </a:txBody>
                  <a:tcPr marL="73152" marR="73152" marT="18288" marB="18288" anchor="ctr">
                    <a:solidFill>
                      <a:srgbClr val="0B2447"/>
                    </a:solidFill>
                  </a:tcPr>
                </a:tc>
                <a:tc>
                  <a:txBody>
                    <a:bodyPr wrap="square"/>
                    <a:lstStyle/>
                    <a:p>
                      <a:r>
                        <a:rPr sz="1250" b="1" i="0">
                          <a:solidFill>
                            <a:srgbClr val="FFFFFF"/>
                          </a:solidFill>
                          <a:latin typeface="Calibri"/>
                        </a:rPr>
                        <a:t>Status</a:t>
                      </a:r>
                    </a:p>
                  </a:txBody>
                  <a:tcPr marL="73152" marR="73152" marT="18288" marB="18288" anchor="ctr">
                    <a:solidFill>
                      <a:srgbClr val="0B2447"/>
                    </a:solidFill>
                  </a:tcPr>
                </a:tc>
              </a:tr>
              <a:tr h="384048">
                <a:tc>
                  <a:txBody>
                    <a:bodyPr wrap="square"/>
                    <a:lstStyle/>
                    <a:p>
                      <a:r>
                        <a:rPr sz="1200" b="0" i="0">
                          <a:solidFill>
                            <a:srgbClr val="1B2A36"/>
                          </a:solidFill>
                          <a:latin typeface="Calibri"/>
                        </a:rPr>
                        <a:t>Compilação TypeScript</a:t>
                      </a:r>
                    </a:p>
                  </a:txBody>
                  <a:tcPr marL="73152" marR="73152" marT="18288" marB="18288" anchor="ctr">
                    <a:solidFill>
                      <a:srgbClr val="FFFFFF"/>
                    </a:solidFill>
                  </a:tcPr>
                </a:tc>
                <a:tc>
                  <a:txBody>
                    <a:bodyPr wrap="square"/>
                    <a:lstStyle/>
                    <a:p>
                      <a:r>
                        <a:rPr sz="1200" b="0" i="0">
                          <a:solidFill>
                            <a:srgbClr val="1B2A36"/>
                          </a:solidFill>
                          <a:latin typeface="Calibri"/>
                        </a:rPr>
                        <a:t>≥ 80%</a:t>
                      </a:r>
                    </a:p>
                  </a:txBody>
                  <a:tcPr marL="73152" marR="73152" marT="18288" marB="18288" anchor="ctr">
                    <a:solidFill>
                      <a:srgbClr val="FFFFFF"/>
                    </a:solidFill>
                  </a:tcPr>
                </a:tc>
                <a:tc>
                  <a:txBody>
                    <a:bodyPr wrap="square"/>
                    <a:lstStyle/>
                    <a:p>
                      <a:r>
                        <a:rPr sz="1200" b="0" i="0">
                          <a:solidFill>
                            <a:srgbClr val="1B2A36"/>
                          </a:solidFill>
                          <a:latin typeface="Calibri"/>
                        </a:rPr>
                        <a:t>Validado</a:t>
                      </a:r>
                    </a:p>
                  </a:txBody>
                  <a:tcPr marL="73152" marR="73152" marT="18288" marB="18288" anchor="ctr">
                    <a:solidFill>
                      <a:srgbClr val="FFFFFF"/>
                    </a:solidFill>
                  </a:tcPr>
                </a:tc>
                <a:tc>
                  <a:txBody>
                    <a:bodyPr wrap="square"/>
                    <a:lstStyle/>
                    <a:p>
                      <a:r>
                        <a:rPr sz="1200" b="0" i="0">
                          <a:solidFill>
                            <a:srgbClr val="1B2A36"/>
                          </a:solidFill>
                          <a:latin typeface="Calibri"/>
                        </a:rPr>
                        <a:t>GO</a:t>
                      </a:r>
                    </a:p>
                  </a:txBody>
                  <a:tcPr marL="73152" marR="73152" marT="18288" marB="18288" anchor="ctr">
                    <a:solidFill>
                      <a:srgbClr val="FFFFFF"/>
                    </a:solidFill>
                  </a:tcPr>
                </a:tc>
              </a:tr>
              <a:tr h="384048">
                <a:tc>
                  <a:txBody>
                    <a:bodyPr wrap="square"/>
                    <a:lstStyle/>
                    <a:p>
                      <a:r>
                        <a:rPr sz="1200" b="0" i="0">
                          <a:solidFill>
                            <a:srgbClr val="1B2A36"/>
                          </a:solidFill>
                          <a:latin typeface="Calibri"/>
                        </a:rPr>
                        <a:t>Taxa de passagem no Jest</a:t>
                      </a:r>
                    </a:p>
                  </a:txBody>
                  <a:tcPr marL="73152" marR="73152" marT="18288" marB="18288" anchor="ctr">
                    <a:solidFill>
                      <a:srgbClr val="EAF1F6"/>
                    </a:solidFill>
                  </a:tcPr>
                </a:tc>
                <a:tc>
                  <a:txBody>
                    <a:bodyPr wrap="square"/>
                    <a:lstStyle/>
                    <a:p>
                      <a:r>
                        <a:rPr sz="1200" b="0" i="0">
                          <a:solidFill>
                            <a:srgbClr val="1B2A36"/>
                          </a:solidFill>
                          <a:latin typeface="Calibri"/>
                        </a:rPr>
                        <a:t>≥ 60%</a:t>
                      </a:r>
                    </a:p>
                  </a:txBody>
                  <a:tcPr marL="73152" marR="73152" marT="18288" marB="18288" anchor="ctr">
                    <a:solidFill>
                      <a:srgbClr val="EAF1F6"/>
                    </a:solidFill>
                  </a:tcPr>
                </a:tc>
                <a:tc>
                  <a:txBody>
                    <a:bodyPr wrap="square"/>
                    <a:lstStyle/>
                    <a:p>
                      <a:r>
                        <a:rPr sz="1200" b="0" i="0">
                          <a:solidFill>
                            <a:srgbClr val="1B2A36"/>
                          </a:solidFill>
                          <a:latin typeface="Calibri"/>
                        </a:rPr>
                        <a:t>Validado</a:t>
                      </a:r>
                    </a:p>
                  </a:txBody>
                  <a:tcPr marL="73152" marR="73152" marT="18288" marB="18288" anchor="ctr">
                    <a:solidFill>
                      <a:srgbClr val="EAF1F6"/>
                    </a:solidFill>
                  </a:tcPr>
                </a:tc>
                <a:tc>
                  <a:txBody>
                    <a:bodyPr wrap="square"/>
                    <a:lstStyle/>
                    <a:p>
                      <a:r>
                        <a:rPr sz="1200" b="0" i="0">
                          <a:solidFill>
                            <a:srgbClr val="1B2A36"/>
                          </a:solidFill>
                          <a:latin typeface="Calibri"/>
                        </a:rPr>
                        <a:t>GO</a:t>
                      </a:r>
                    </a:p>
                  </a:txBody>
                  <a:tcPr marL="73152" marR="73152" marT="18288" marB="18288" anchor="ctr">
                    <a:solidFill>
                      <a:srgbClr val="EAF1F6"/>
                    </a:solidFill>
                  </a:tcPr>
                </a:tc>
              </a:tr>
              <a:tr h="384048">
                <a:tc>
                  <a:txBody>
                    <a:bodyPr wrap="square"/>
                    <a:lstStyle/>
                    <a:p>
                      <a:r>
                        <a:rPr sz="1200" b="0" i="0">
                          <a:solidFill>
                            <a:srgbClr val="1B2A36"/>
                          </a:solidFill>
                          <a:latin typeface="Calibri"/>
                        </a:rPr>
                        <a:t>Cobertura de código</a:t>
                      </a:r>
                    </a:p>
                  </a:txBody>
                  <a:tcPr marL="73152" marR="73152" marT="18288" marB="18288" anchor="ctr">
                    <a:solidFill>
                      <a:srgbClr val="FFFFFF"/>
                    </a:solidFill>
                  </a:tcPr>
                </a:tc>
                <a:tc>
                  <a:txBody>
                    <a:bodyPr wrap="square"/>
                    <a:lstStyle/>
                    <a:p>
                      <a:r>
                        <a:rPr sz="1200" b="0" i="0">
                          <a:solidFill>
                            <a:srgbClr val="1B2A36"/>
                          </a:solidFill>
                          <a:latin typeface="Calibri"/>
                        </a:rPr>
                        <a:t>≥ 70%</a:t>
                      </a:r>
                    </a:p>
                  </a:txBody>
                  <a:tcPr marL="73152" marR="73152" marT="18288" marB="18288" anchor="ctr">
                    <a:solidFill>
                      <a:srgbClr val="FFFFFF"/>
                    </a:solidFill>
                  </a:tcPr>
                </a:tc>
                <a:tc>
                  <a:txBody>
                    <a:bodyPr wrap="square"/>
                    <a:lstStyle/>
                    <a:p>
                      <a:r>
                        <a:rPr sz="1200" b="0" i="0">
                          <a:solidFill>
                            <a:srgbClr val="1B2A36"/>
                          </a:solidFill>
                          <a:latin typeface="Calibri"/>
                        </a:rPr>
                        <a:t>93%+</a:t>
                      </a:r>
                    </a:p>
                  </a:txBody>
                  <a:tcPr marL="73152" marR="73152" marT="18288" marB="18288" anchor="ctr">
                    <a:solidFill>
                      <a:srgbClr val="FFFFFF"/>
                    </a:solidFill>
                  </a:tcPr>
                </a:tc>
                <a:tc>
                  <a:txBody>
                    <a:bodyPr wrap="square"/>
                    <a:lstStyle/>
                    <a:p>
                      <a:r>
                        <a:rPr sz="1200" b="0" i="0">
                          <a:solidFill>
                            <a:srgbClr val="1B2A36"/>
                          </a:solidFill>
                          <a:latin typeface="Calibri"/>
                        </a:rPr>
                        <a:t>GO</a:t>
                      </a:r>
                    </a:p>
                  </a:txBody>
                  <a:tcPr marL="73152" marR="73152" marT="18288" marB="18288" anchor="ctr">
                    <a:solidFill>
                      <a:srgbClr val="FFFFFF"/>
                    </a:solidFill>
                  </a:tcPr>
                </a:tc>
              </a:tr>
              <a:tr h="384048">
                <a:tc>
                  <a:txBody>
                    <a:bodyPr wrap="square"/>
                    <a:lstStyle/>
                    <a:p>
                      <a:r>
                        <a:rPr sz="1200" b="0" i="0">
                          <a:solidFill>
                            <a:srgbClr val="1B2A36"/>
                          </a:solidFill>
                          <a:latin typeface="Calibri"/>
                        </a:rPr>
                        <a:t>Redução de tempo</a:t>
                      </a:r>
                    </a:p>
                  </a:txBody>
                  <a:tcPr marL="73152" marR="73152" marT="18288" marB="18288" anchor="ctr">
                    <a:solidFill>
                      <a:srgbClr val="EAF1F6"/>
                    </a:solidFill>
                  </a:tcPr>
                </a:tc>
                <a:tc>
                  <a:txBody>
                    <a:bodyPr wrap="square"/>
                    <a:lstStyle/>
                    <a:p>
                      <a:r>
                        <a:rPr sz="1200" b="0" i="0">
                          <a:solidFill>
                            <a:srgbClr val="1B2A36"/>
                          </a:solidFill>
                          <a:latin typeface="Calibri"/>
                        </a:rPr>
                        <a:t>≥ 50%</a:t>
                      </a:r>
                    </a:p>
                  </a:txBody>
                  <a:tcPr marL="73152" marR="73152" marT="18288" marB="18288" anchor="ctr">
                    <a:solidFill>
                      <a:srgbClr val="EAF1F6"/>
                    </a:solidFill>
                  </a:tcPr>
                </a:tc>
                <a:tc>
                  <a:txBody>
                    <a:bodyPr wrap="square"/>
                    <a:lstStyle/>
                    <a:p>
                      <a:r>
                        <a:rPr sz="1200" b="0" i="0">
                          <a:solidFill>
                            <a:srgbClr val="1B2A36"/>
                          </a:solidFill>
                          <a:latin typeface="Calibri"/>
                        </a:rPr>
                        <a:t>Validado</a:t>
                      </a:r>
                    </a:p>
                  </a:txBody>
                  <a:tcPr marL="73152" marR="73152" marT="18288" marB="18288" anchor="ctr">
                    <a:solidFill>
                      <a:srgbClr val="EAF1F6"/>
                    </a:solidFill>
                  </a:tcPr>
                </a:tc>
                <a:tc>
                  <a:txBody>
                    <a:bodyPr wrap="square"/>
                    <a:lstStyle/>
                    <a:p>
                      <a:r>
                        <a:rPr sz="1200" b="0" i="0">
                          <a:solidFill>
                            <a:srgbClr val="1B2A36"/>
                          </a:solidFill>
                          <a:latin typeface="Calibri"/>
                        </a:rPr>
                        <a:t>GO</a:t>
                      </a:r>
                    </a:p>
                  </a:txBody>
                  <a:tcPr marL="73152" marR="73152" marT="18288" marB="18288" anchor="ctr">
                    <a:solidFill>
                      <a:srgbClr val="EAF1F6"/>
                    </a:solidFill>
                  </a:tcPr>
                </a:tc>
              </a:tr>
            </a:tbl>
          </a:graphicData>
        </a:graphic>
      </p:graphicFrame>
      <p:sp>
        <p:nvSpPr>
          <p:cNvPr id="10" name="TextBox 9"/>
          <p:cNvSpPr txBox="1"/>
          <p:nvPr/>
        </p:nvSpPr>
        <p:spPr>
          <a:xfrm>
            <a:off x="548640" y="4325112"/>
            <a:ext cx="11094415" cy="621792"/>
          </a:xfrm>
          <a:prstGeom prst="rect">
            <a:avLst/>
          </a:prstGeom>
          <a:noFill/>
        </p:spPr>
        <p:txBody>
          <a:bodyPr wrap="square" anchor="t" lIns="45720" rIns="45720" tIns="18288" bIns="18288">
            <a:spAutoFit/>
          </a:bodyPr>
          <a:lstStyle/>
          <a:p>
            <a:pPr>
              <a:spcAft>
                <a:spcPts val="400"/>
              </a:spcAft>
            </a:pPr>
            <a:r>
              <a:rPr sz="1700" b="1" i="0">
                <a:solidFill>
                  <a:srgbClr val="0B2447"/>
                </a:solidFill>
                <a:latin typeface="Calibri"/>
              </a:rPr>
              <a:t>Resultado: todos os critérios GO atendidos. Pipeline validada end-to-end.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3 · ENSAIO</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  DEMO AO VIVO — Fastest CLI em Ação</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10</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sp>
        <p:nvSpPr>
          <p:cNvPr id="7" name="Rectangle 6"/>
          <p:cNvSpPr/>
          <p:nvPr/>
        </p:nvSpPr>
        <p:spPr>
          <a:xfrm>
            <a:off x="548640" y="1417320"/>
            <a:ext cx="11094415" cy="457200"/>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500" b="1" i="1">
                <a:solidFill>
                  <a:srgbClr val="0B2447"/>
                </a:solidFill>
                <a:latin typeface="Calibri"/>
              </a:rPr>
              <a:t>⏸  PARAR A APRESENTAÇÃO E IR PARA O TERMINAL</a:t>
            </a:r>
          </a:p>
        </p:txBody>
      </p:sp>
      <p:sp>
        <p:nvSpPr>
          <p:cNvPr id="8" name="Rectangle 7"/>
          <p:cNvSpPr/>
          <p:nvPr/>
        </p:nvSpPr>
        <p:spPr>
          <a:xfrm>
            <a:off x="548640" y="1417320"/>
            <a:ext cx="73152" cy="457200"/>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65960"/>
            <a:ext cx="11094415" cy="365760"/>
          </a:xfrm>
          <a:prstGeom prst="rect">
            <a:avLst/>
          </a:prstGeom>
          <a:noFill/>
        </p:spPr>
        <p:txBody>
          <a:bodyPr wrap="square" anchor="t" lIns="45720" rIns="45720" tIns="18288" bIns="18288">
            <a:spAutoFit/>
          </a:bodyPr>
          <a:lstStyle/>
          <a:p>
            <a:r>
              <a:rPr sz="1700" b="1" i="0">
                <a:solidFill>
                  <a:srgbClr val="149ECA"/>
                </a:solidFill>
                <a:latin typeface="Calibri"/>
              </a:rPr>
              <a:t>Roteiro da demo (~3–4 min)</a:t>
            </a:r>
          </a:p>
        </p:txBody>
      </p:sp>
      <p:sp>
        <p:nvSpPr>
          <p:cNvPr id="10" name="TextBox 9"/>
          <p:cNvSpPr txBox="1"/>
          <p:nvPr/>
        </p:nvSpPr>
        <p:spPr>
          <a:xfrm>
            <a:off x="548640" y="2377440"/>
            <a:ext cx="11094415" cy="1865376"/>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fastest doctor — diagnóstico do ambiente (15s)</a:t>
            </a:r>
          </a:p>
          <a:p>
            <a:pPr>
              <a:spcAft>
                <a:spcPts val="400"/>
              </a:spcAft>
            </a:pPr>
            <a:r>
              <a:rPr sz="1600" b="1" i="0">
                <a:solidFill>
                  <a:srgbClr val="149ECA"/>
                </a:solidFill>
                <a:latin typeface="Calibri"/>
              </a:rPr>
              <a:t>▸ </a:t>
            </a:r>
            <a:r>
              <a:rPr sz="1600" b="0" i="0">
                <a:solidFill>
                  <a:srgbClr val="1B2A36"/>
                </a:solidFill>
                <a:latin typeface="Calibri"/>
              </a:rPr>
              <a:t>fastest generate — modo interativo sem flags (60s)</a:t>
            </a:r>
          </a:p>
          <a:p>
            <a:pPr>
              <a:spcAft>
                <a:spcPts val="400"/>
              </a:spcAft>
            </a:pPr>
            <a:r>
              <a:rPr sz="1600" b="1" i="0">
                <a:solidFill>
                  <a:srgbClr val="149ECA"/>
                </a:solidFill>
                <a:latin typeface="Calibri"/>
              </a:rPr>
              <a:t>▸ </a:t>
            </a:r>
            <a:r>
              <a:rPr sz="1600" b="0" i="0">
                <a:solidFill>
                  <a:srgbClr val="1B2A36"/>
                </a:solidFill>
                <a:latin typeface="Calibri"/>
              </a:rPr>
              <a:t>fastest generate --test-type use-case — geração com flags (60s)</a:t>
            </a:r>
          </a:p>
          <a:p>
            <a:pPr>
              <a:spcAft>
                <a:spcPts val="400"/>
              </a:spcAft>
            </a:pPr>
            <a:r>
              <a:rPr sz="1600" b="1" i="0">
                <a:solidFill>
                  <a:srgbClr val="149ECA"/>
                </a:solidFill>
                <a:latin typeface="Calibri"/>
              </a:rPr>
              <a:t>▸ </a:t>
            </a:r>
            <a:r>
              <a:rPr sz="1600" b="0" i="0">
                <a:solidFill>
                  <a:srgbClr val="1B2A36"/>
                </a:solidFill>
                <a:latin typeface="Calibri"/>
              </a:rPr>
              <a:t>fastest batch --files src/utils/ --dry-run — modo batch (30s)</a:t>
            </a:r>
          </a:p>
          <a:p>
            <a:pPr>
              <a:spcAft>
                <a:spcPts val="400"/>
              </a:spcAft>
            </a:pPr>
            <a:r>
              <a:rPr sz="1600" b="1" i="0">
                <a:solidFill>
                  <a:srgbClr val="149ECA"/>
                </a:solidFill>
                <a:latin typeface="Calibri"/>
              </a:rPr>
              <a:t>▸ </a:t>
            </a:r>
            <a:r>
              <a:rPr sz="1600" b="0" i="0">
                <a:solidFill>
                  <a:srgbClr val="1B2A36"/>
                </a:solidFill>
                <a:latin typeface="Calibri"/>
              </a:rPr>
              <a:t>npx jest — execução dos testes gerados (30s)</a:t>
            </a:r>
          </a:p>
        </p:txBody>
      </p:sp>
      <p:sp>
        <p:nvSpPr>
          <p:cNvPr id="11" name="TextBox 10"/>
          <p:cNvSpPr txBox="1"/>
          <p:nvPr/>
        </p:nvSpPr>
        <p:spPr>
          <a:xfrm>
            <a:off x="548640" y="4242816"/>
            <a:ext cx="11094415" cy="932688"/>
          </a:xfrm>
          <a:prstGeom prst="rect">
            <a:avLst/>
          </a:prstGeom>
          <a:noFill/>
        </p:spPr>
        <p:txBody>
          <a:bodyPr wrap="square" anchor="t" lIns="45720" rIns="45720" tIns="18288" bIns="18288">
            <a:spAutoFit/>
          </a:bodyPr>
          <a:lstStyle/>
          <a:p>
            <a:pPr>
              <a:spcAft>
                <a:spcPts val="400"/>
              </a:spcAft>
            </a:pPr>
            <a:r>
              <a:rPr sz="1700" b="1" i="0">
                <a:solidFill>
                  <a:srgbClr val="0B2447"/>
                </a:solidFill>
                <a:latin typeface="Calibri"/>
              </a:rPr>
              <a:t>Destaques: modo interativo · 3 tipos de teste (unit/integration/use-case) · pipeline geração→validação→execução→delta de cobertura</a:t>
            </a:r>
          </a:p>
          <a:p>
            <a:pPr>
              <a:spcAft>
                <a:spcPts val="400"/>
              </a:spcAft>
            </a:pPr>
            <a:r>
              <a:rPr sz="1600" b="1" i="0">
                <a:solidFill>
                  <a:srgbClr val="149ECA"/>
                </a:solidFill>
                <a:latin typeface="Calibri"/>
              </a:rPr>
              <a:t>▸ </a:t>
            </a:r>
            <a:r>
              <a:rPr sz="1600" b="0" i="0">
                <a:solidFill>
                  <a:srgbClr val="1B2A36"/>
                </a:solidFill>
                <a:latin typeface="Calibri"/>
              </a:rPr>
              <a:t>Plano B: screenshots prontos caso a API falhe (ver demo-script.md)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3 · ENSAIO</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Estratégia de Testes — 201 Testes, 93%+ Cobertura</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11</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graphicFrame>
        <p:nvGraphicFramePr>
          <p:cNvPr id="7" name="Table 6"/>
          <p:cNvGraphicFramePr>
            <a:graphicFrameLocks noGrp="1"/>
          </p:cNvGraphicFramePr>
          <p:nvPr/>
        </p:nvGraphicFramePr>
        <p:xfrm>
          <a:off x="548640" y="1417320"/>
          <a:ext cx="11094414" cy="1536192"/>
        </p:xfrm>
        <a:graphic>
          <a:graphicData uri="http://schemas.openxmlformats.org/drawingml/2006/table">
            <a:tbl>
              <a:tblPr firstRow="1" bandRow="1">
                <a:tableStyleId>{5C22544A-7EE6-4342-B048-85BDC9FD1C3A}</a:tableStyleId>
              </a:tblPr>
              <a:tblGrid>
                <a:gridCol w="5547207"/>
                <a:gridCol w="2218883"/>
                <a:gridCol w="3328324"/>
              </a:tblGrid>
              <a:tr h="384048">
                <a:tc>
                  <a:txBody>
                    <a:bodyPr wrap="square"/>
                    <a:lstStyle/>
                    <a:p>
                      <a:r>
                        <a:rPr sz="1250" b="1" i="0">
                          <a:solidFill>
                            <a:srgbClr val="FFFFFF"/>
                          </a:solidFill>
                          <a:latin typeface="Calibri"/>
                        </a:rPr>
                        <a:t>Marco</a:t>
                      </a:r>
                    </a:p>
                  </a:txBody>
                  <a:tcPr marL="73152" marR="73152" marT="18288" marB="18288" anchor="ctr">
                    <a:solidFill>
                      <a:srgbClr val="0B2447"/>
                    </a:solidFill>
                  </a:tcPr>
                </a:tc>
                <a:tc>
                  <a:txBody>
                    <a:bodyPr wrap="square"/>
                    <a:lstStyle/>
                    <a:p>
                      <a:r>
                        <a:rPr sz="1250" b="1" i="0">
                          <a:solidFill>
                            <a:srgbClr val="FFFFFF"/>
                          </a:solidFill>
                          <a:latin typeface="Calibri"/>
                        </a:rPr>
                        <a:t>Testes</a:t>
                      </a:r>
                    </a:p>
                  </a:txBody>
                  <a:tcPr marL="73152" marR="73152" marT="18288" marB="18288" anchor="ctr">
                    <a:solidFill>
                      <a:srgbClr val="0B2447"/>
                    </a:solidFill>
                  </a:tcPr>
                </a:tc>
                <a:tc>
                  <a:txBody>
                    <a:bodyPr wrap="square"/>
                    <a:lstStyle/>
                    <a:p>
                      <a:r>
                        <a:rPr sz="1250" b="1" i="0">
                          <a:solidFill>
                            <a:srgbClr val="FFFFFF"/>
                          </a:solidFill>
                          <a:latin typeface="Calibri"/>
                        </a:rPr>
                        <a:t>Cobertura</a:t>
                      </a:r>
                    </a:p>
                  </a:txBody>
                  <a:tcPr marL="73152" marR="73152" marT="18288" marB="18288" anchor="ctr">
                    <a:solidFill>
                      <a:srgbClr val="0B2447"/>
                    </a:solidFill>
                  </a:tcPr>
                </a:tc>
              </a:tr>
              <a:tr h="384048">
                <a:tc>
                  <a:txBody>
                    <a:bodyPr wrap="square"/>
                    <a:lstStyle/>
                    <a:p>
                      <a:r>
                        <a:rPr sz="1200" b="0" i="0">
                          <a:solidFill>
                            <a:srgbClr val="1B2A36"/>
                          </a:solidFill>
                          <a:latin typeface="Calibri"/>
                        </a:rPr>
                        <a:t>v0.0.1 (baseline)</a:t>
                      </a:r>
                    </a:p>
                  </a:txBody>
                  <a:tcPr marL="73152" marR="73152" marT="18288" marB="18288" anchor="ctr">
                    <a:solidFill>
                      <a:srgbClr val="FFFFFF"/>
                    </a:solidFill>
                  </a:tcPr>
                </a:tc>
                <a:tc>
                  <a:txBody>
                    <a:bodyPr wrap="square"/>
                    <a:lstStyle/>
                    <a:p>
                      <a:r>
                        <a:rPr sz="1200" b="0" i="0">
                          <a:solidFill>
                            <a:srgbClr val="1B2A36"/>
                          </a:solidFill>
                          <a:latin typeface="Calibri"/>
                        </a:rPr>
                        <a:t>154</a:t>
                      </a:r>
                    </a:p>
                  </a:txBody>
                  <a:tcPr marL="73152" marR="73152" marT="18288" marB="18288" anchor="ctr">
                    <a:solidFill>
                      <a:srgbClr val="FFFFFF"/>
                    </a:solidFill>
                  </a:tcPr>
                </a:tc>
                <a:tc>
                  <a:txBody>
                    <a:bodyPr wrap="square"/>
                    <a:lstStyle/>
                    <a:p>
                      <a:r>
                        <a:rPr sz="1200" b="0" i="0">
                          <a:solidFill>
                            <a:srgbClr val="1B2A36"/>
                          </a:solidFill>
                          <a:latin typeface="Calibri"/>
                        </a:rPr>
                        <a:t>81,68%</a:t>
                      </a:r>
                    </a:p>
                  </a:txBody>
                  <a:tcPr marL="73152" marR="73152" marT="18288" marB="18288" anchor="ctr">
                    <a:solidFill>
                      <a:srgbClr val="FFFFFF"/>
                    </a:solidFill>
                  </a:tcPr>
                </a:tc>
              </a:tr>
              <a:tr h="384048">
                <a:tc>
                  <a:txBody>
                    <a:bodyPr wrap="square"/>
                    <a:lstStyle/>
                    <a:p>
                      <a:r>
                        <a:rPr sz="1200" b="0" i="0">
                          <a:solidFill>
                            <a:srgbClr val="1B2A36"/>
                          </a:solidFill>
                          <a:latin typeface="Calibri"/>
                        </a:rPr>
                        <a:t>v0.0.2 (refatoração)</a:t>
                      </a:r>
                    </a:p>
                  </a:txBody>
                  <a:tcPr marL="73152" marR="73152" marT="18288" marB="18288" anchor="ctr">
                    <a:solidFill>
                      <a:srgbClr val="EAF1F6"/>
                    </a:solidFill>
                  </a:tcPr>
                </a:tc>
                <a:tc>
                  <a:txBody>
                    <a:bodyPr wrap="square"/>
                    <a:lstStyle/>
                    <a:p>
                      <a:r>
                        <a:rPr sz="1200" b="0" i="0">
                          <a:solidFill>
                            <a:srgbClr val="1B2A36"/>
                          </a:solidFill>
                          <a:latin typeface="Calibri"/>
                        </a:rPr>
                        <a:t>~180</a:t>
                      </a:r>
                    </a:p>
                  </a:txBody>
                  <a:tcPr marL="73152" marR="73152" marT="18288" marB="18288" anchor="ctr">
                    <a:solidFill>
                      <a:srgbClr val="EAF1F6"/>
                    </a:solidFill>
                  </a:tcPr>
                </a:tc>
                <a:tc>
                  <a:txBody>
                    <a:bodyPr wrap="square"/>
                    <a:lstStyle/>
                    <a:p>
                      <a:r>
                        <a:rPr sz="1200" b="0" i="0">
                          <a:solidFill>
                            <a:srgbClr val="1B2A36"/>
                          </a:solidFill>
                          <a:latin typeface="Calibri"/>
                        </a:rPr>
                        <a:t>~88%</a:t>
                      </a:r>
                    </a:p>
                  </a:txBody>
                  <a:tcPr marL="73152" marR="73152" marT="18288" marB="18288" anchor="ctr">
                    <a:solidFill>
                      <a:srgbClr val="EAF1F6"/>
                    </a:solidFill>
                  </a:tcPr>
                </a:tc>
              </a:tr>
              <a:tr h="384048">
                <a:tc>
                  <a:txBody>
                    <a:bodyPr wrap="square"/>
                    <a:lstStyle/>
                    <a:p>
                      <a:r>
                        <a:rPr sz="1200" b="0" i="0">
                          <a:solidFill>
                            <a:srgbClr val="1B2A36"/>
                          </a:solidFill>
                          <a:latin typeface="Calibri"/>
                        </a:rPr>
                        <a:t>v0.1.0 (atual)</a:t>
                      </a:r>
                    </a:p>
                  </a:txBody>
                  <a:tcPr marL="73152" marR="73152" marT="18288" marB="18288" anchor="ctr">
                    <a:solidFill>
                      <a:srgbClr val="FFFFFF"/>
                    </a:solidFill>
                  </a:tcPr>
                </a:tc>
                <a:tc>
                  <a:txBody>
                    <a:bodyPr wrap="square"/>
                    <a:lstStyle/>
                    <a:p>
                      <a:r>
                        <a:rPr sz="1200" b="0" i="0">
                          <a:solidFill>
                            <a:srgbClr val="1B2A36"/>
                          </a:solidFill>
                          <a:latin typeface="Calibri"/>
                        </a:rPr>
                        <a:t>201</a:t>
                      </a:r>
                    </a:p>
                  </a:txBody>
                  <a:tcPr marL="73152" marR="73152" marT="18288" marB="18288" anchor="ctr">
                    <a:solidFill>
                      <a:srgbClr val="FFFFFF"/>
                    </a:solidFill>
                  </a:tcPr>
                </a:tc>
                <a:tc>
                  <a:txBody>
                    <a:bodyPr wrap="square"/>
                    <a:lstStyle/>
                    <a:p>
                      <a:r>
                        <a:rPr sz="1200" b="0" i="0">
                          <a:solidFill>
                            <a:srgbClr val="1B2A36"/>
                          </a:solidFill>
                          <a:latin typeface="Calibri"/>
                        </a:rPr>
                        <a:t>93%+</a:t>
                      </a:r>
                    </a:p>
                  </a:txBody>
                  <a:tcPr marL="73152" marR="73152" marT="18288" marB="18288" anchor="ctr">
                    <a:solidFill>
                      <a:srgbClr val="FFFFFF"/>
                    </a:solidFill>
                  </a:tcPr>
                </a:tc>
              </a:tr>
            </a:tbl>
          </a:graphicData>
        </a:graphic>
      </p:graphicFrame>
      <p:sp>
        <p:nvSpPr>
          <p:cNvPr id="8" name="TextBox 7"/>
          <p:cNvSpPr txBox="1"/>
          <p:nvPr/>
        </p:nvSpPr>
        <p:spPr>
          <a:xfrm>
            <a:off x="548640" y="3136392"/>
            <a:ext cx="11094415" cy="1865376"/>
          </a:xfrm>
          <a:prstGeom prst="rect">
            <a:avLst/>
          </a:prstGeom>
          <a:noFill/>
        </p:spPr>
        <p:txBody>
          <a:bodyPr wrap="square" anchor="t" lIns="45720" rIns="45720" tIns="18288" bIns="18288">
            <a:spAutoFit/>
          </a:bodyPr>
          <a:lstStyle/>
          <a:p>
            <a:pPr>
              <a:spcAft>
                <a:spcPts val="400"/>
              </a:spcAft>
            </a:pPr>
            <a:r>
              <a:rPr sz="1700" b="1" i="0">
                <a:solidFill>
                  <a:srgbClr val="0B2447"/>
                </a:solidFill>
                <a:latin typeface="Calibri"/>
              </a:rPr>
              <a:t>Distribuição por módulo</a:t>
            </a:r>
          </a:p>
          <a:p>
            <a:pPr>
              <a:spcAft>
                <a:spcPts val="400"/>
              </a:spcAft>
            </a:pPr>
            <a:r>
              <a:rPr sz="1600" b="1" i="0">
                <a:solidFill>
                  <a:srgbClr val="149ECA"/>
                </a:solidFill>
                <a:latin typeface="Calibri"/>
              </a:rPr>
              <a:t>▸ </a:t>
            </a:r>
            <a:r>
              <a:rPr sz="1600" b="0" i="0">
                <a:solidFill>
                  <a:srgbClr val="1B2A36"/>
                </a:solidFill>
                <a:latin typeface="Calibri"/>
              </a:rPr>
              <a:t>CLI Commands: generate, batch, doctor, config, init</a:t>
            </a:r>
          </a:p>
          <a:p>
            <a:pPr>
              <a:spcAft>
                <a:spcPts val="400"/>
              </a:spcAft>
            </a:pPr>
            <a:r>
              <a:rPr sz="1600" b="1" i="0">
                <a:solidFill>
                  <a:srgbClr val="149ECA"/>
                </a:solidFill>
                <a:latin typeface="Calibri"/>
              </a:rPr>
              <a:t>▸ </a:t>
            </a:r>
            <a:r>
              <a:rPr sz="1600" b="0" i="0">
                <a:solidFill>
                  <a:srgbClr val="1B2A36"/>
                </a:solidFill>
                <a:latin typeface="Calibri"/>
              </a:rPr>
              <a:t>Services: llm, test-generator, coverage, cache (mocks de API)</a:t>
            </a:r>
          </a:p>
          <a:p>
            <a:pPr>
              <a:spcAft>
                <a:spcPts val="400"/>
              </a:spcAft>
            </a:pPr>
            <a:r>
              <a:rPr sz="1600" b="1" i="0">
                <a:solidFill>
                  <a:srgbClr val="149ECA"/>
                </a:solidFill>
                <a:latin typeface="Calibri"/>
              </a:rPr>
              <a:t>▸ </a:t>
            </a:r>
            <a:r>
              <a:rPr sz="1600" b="0" i="0">
                <a:solidFill>
                  <a:srgbClr val="1B2A36"/>
                </a:solidFill>
                <a:latin typeface="Calibri"/>
              </a:rPr>
              <a:t>Providers: openai, anthropic, factory (respostas simuladas)</a:t>
            </a:r>
          </a:p>
          <a:p>
            <a:pPr>
              <a:spcAft>
                <a:spcPts val="400"/>
              </a:spcAft>
            </a:pPr>
            <a:r>
              <a:rPr sz="1600" b="1" i="0">
                <a:solidFill>
                  <a:srgbClr val="149ECA"/>
                </a:solidFill>
                <a:latin typeface="Calibri"/>
              </a:rPr>
              <a:t>▸ </a:t>
            </a:r>
            <a:r>
              <a:rPr sz="1600" b="0" i="0">
                <a:solidFill>
                  <a:srgbClr val="1B2A36"/>
                </a:solidFill>
                <a:latin typeface="Calibri"/>
              </a:rPr>
              <a:t>Edge cases: inputs inválidos, timeouts, erros de API, cache miss/hit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3 · ENSAIO</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Qualidade dos Testes Gerados pela IA</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12</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sp>
        <p:nvSpPr>
          <p:cNvPr id="7" name="TextBox 6"/>
          <p:cNvSpPr txBox="1"/>
          <p:nvPr/>
        </p:nvSpPr>
        <p:spPr>
          <a:xfrm>
            <a:off x="548640" y="1417320"/>
            <a:ext cx="11094415" cy="365760"/>
          </a:xfrm>
          <a:prstGeom prst="rect">
            <a:avLst/>
          </a:prstGeom>
          <a:noFill/>
        </p:spPr>
        <p:txBody>
          <a:bodyPr wrap="square" anchor="t" lIns="45720" rIns="45720" tIns="18288" bIns="18288">
            <a:spAutoFit/>
          </a:bodyPr>
          <a:lstStyle/>
          <a:p>
            <a:r>
              <a:rPr sz="1700" b="1" i="0">
                <a:solidFill>
                  <a:srgbClr val="149ECA"/>
                </a:solidFill>
                <a:latin typeface="Calibri"/>
              </a:rPr>
              <a:t>O que a IA faz bem</a:t>
            </a:r>
          </a:p>
        </p:txBody>
      </p:sp>
      <p:sp>
        <p:nvSpPr>
          <p:cNvPr id="8" name="TextBox 7"/>
          <p:cNvSpPr txBox="1"/>
          <p:nvPr/>
        </p:nvSpPr>
        <p:spPr>
          <a:xfrm>
            <a:off x="548640" y="1828800"/>
            <a:ext cx="11094415" cy="1243584"/>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Estrutura de teste (describe/it) consistente</a:t>
            </a:r>
          </a:p>
          <a:p>
            <a:pPr>
              <a:spcAft>
                <a:spcPts val="400"/>
              </a:spcAft>
            </a:pPr>
            <a:r>
              <a:rPr sz="1600" b="1" i="0">
                <a:solidFill>
                  <a:srgbClr val="149ECA"/>
                </a:solidFill>
                <a:latin typeface="Calibri"/>
              </a:rPr>
              <a:t>▸ </a:t>
            </a:r>
            <a:r>
              <a:rPr sz="1600" b="0" i="0">
                <a:solidFill>
                  <a:srgbClr val="1B2A36"/>
                </a:solidFill>
                <a:latin typeface="Calibri"/>
              </a:rPr>
              <a:t>Identificação de happy paths e geração de mocks adequados</a:t>
            </a:r>
          </a:p>
          <a:p>
            <a:pPr>
              <a:spcAft>
                <a:spcPts val="400"/>
              </a:spcAft>
            </a:pPr>
            <a:r>
              <a:rPr sz="1600" b="1" i="0">
                <a:solidFill>
                  <a:srgbClr val="149ECA"/>
                </a:solidFill>
                <a:latin typeface="Calibri"/>
              </a:rPr>
              <a:t>▸ </a:t>
            </a:r>
            <a:r>
              <a:rPr sz="1600" b="0" i="0">
                <a:solidFill>
                  <a:srgbClr val="1B2A36"/>
                </a:solidFill>
                <a:latin typeface="Calibri"/>
              </a:rPr>
              <a:t>Cobertura de branches básicas</a:t>
            </a:r>
          </a:p>
        </p:txBody>
      </p:sp>
      <p:sp>
        <p:nvSpPr>
          <p:cNvPr id="9" name="TextBox 8"/>
          <p:cNvSpPr txBox="1"/>
          <p:nvPr/>
        </p:nvSpPr>
        <p:spPr>
          <a:xfrm>
            <a:off x="548640" y="3072384"/>
            <a:ext cx="11094415" cy="365760"/>
          </a:xfrm>
          <a:prstGeom prst="rect">
            <a:avLst/>
          </a:prstGeom>
          <a:noFill/>
        </p:spPr>
        <p:txBody>
          <a:bodyPr wrap="square" anchor="t" lIns="45720" rIns="45720" tIns="18288" bIns="18288">
            <a:spAutoFit/>
          </a:bodyPr>
          <a:lstStyle/>
          <a:p>
            <a:r>
              <a:rPr sz="1700" b="1" i="0">
                <a:solidFill>
                  <a:srgbClr val="149ECA"/>
                </a:solidFill>
                <a:latin typeface="Calibri"/>
              </a:rPr>
              <a:t>Onde a IA precisa de ajuda</a:t>
            </a:r>
          </a:p>
        </p:txBody>
      </p:sp>
      <p:sp>
        <p:nvSpPr>
          <p:cNvPr id="10" name="TextBox 9"/>
          <p:cNvSpPr txBox="1"/>
          <p:nvPr/>
        </p:nvSpPr>
        <p:spPr>
          <a:xfrm>
            <a:off x="548640" y="3483864"/>
            <a:ext cx="11094415" cy="1243584"/>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Lógica de negócio complexa e específica do domínio</a:t>
            </a:r>
          </a:p>
          <a:p>
            <a:pPr>
              <a:spcAft>
                <a:spcPts val="400"/>
              </a:spcAft>
            </a:pPr>
            <a:r>
              <a:rPr sz="1600" b="1" i="0">
                <a:solidFill>
                  <a:srgbClr val="149ECA"/>
                </a:solidFill>
                <a:latin typeface="Calibri"/>
              </a:rPr>
              <a:t>▸ </a:t>
            </a:r>
            <a:r>
              <a:rPr sz="1600" b="0" i="0">
                <a:solidFill>
                  <a:srgbClr val="1B2A36"/>
                </a:solidFill>
                <a:latin typeface="Calibri"/>
              </a:rPr>
              <a:t>Testes de integração com estado compartilhado</a:t>
            </a:r>
          </a:p>
          <a:p>
            <a:pPr>
              <a:spcAft>
                <a:spcPts val="400"/>
              </a:spcAft>
            </a:pPr>
            <a:r>
              <a:rPr sz="1600" b="1" i="0">
                <a:solidFill>
                  <a:srgbClr val="149ECA"/>
                </a:solidFill>
                <a:latin typeface="Calibri"/>
              </a:rPr>
              <a:t>▸ </a:t>
            </a:r>
            <a:r>
              <a:rPr sz="1600" b="0" i="0">
                <a:solidFill>
                  <a:srgbClr val="1B2A36"/>
                </a:solidFill>
                <a:latin typeface="Calibri"/>
              </a:rPr>
              <a:t>Assertions de performance e edge cases muito específicos</a:t>
            </a:r>
          </a:p>
        </p:txBody>
      </p:sp>
      <p:sp>
        <p:nvSpPr>
          <p:cNvPr id="11" name="Rectangle 10"/>
          <p:cNvSpPr/>
          <p:nvPr/>
        </p:nvSpPr>
        <p:spPr>
          <a:xfrm>
            <a:off x="548640" y="4727448"/>
            <a:ext cx="11094415" cy="713232"/>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500" b="1" i="1">
                <a:solidFill>
                  <a:srgbClr val="0B2447"/>
                </a:solidFill>
                <a:latin typeface="Calibri"/>
              </a:rPr>
              <a:t>Mecanismo de correção: retry com feedback do erro (até 3 tentativas) → eleva a taxa de passagem.</a:t>
            </a:r>
          </a:p>
        </p:txBody>
      </p:sp>
      <p:sp>
        <p:nvSpPr>
          <p:cNvPr id="12" name="Rectangle 11"/>
          <p:cNvSpPr/>
          <p:nvPr/>
        </p:nvSpPr>
        <p:spPr>
          <a:xfrm>
            <a:off x="548640" y="4727448"/>
            <a:ext cx="73152" cy="71323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3 · ENSAIO</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Segurança e Confiabilidade</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13</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graphicFrame>
        <p:nvGraphicFramePr>
          <p:cNvPr id="7" name="Table 6"/>
          <p:cNvGraphicFramePr>
            <a:graphicFrameLocks noGrp="1"/>
          </p:cNvGraphicFramePr>
          <p:nvPr/>
        </p:nvGraphicFramePr>
        <p:xfrm>
          <a:off x="548640" y="1417320"/>
          <a:ext cx="11094415" cy="2304288"/>
        </p:xfrm>
        <a:graphic>
          <a:graphicData uri="http://schemas.openxmlformats.org/drawingml/2006/table">
            <a:tbl>
              <a:tblPr firstRow="1" bandRow="1">
                <a:tableStyleId>{5C22544A-7EE6-4342-B048-85BDC9FD1C3A}</a:tableStyleId>
              </a:tblPr>
              <a:tblGrid>
                <a:gridCol w="4437766"/>
                <a:gridCol w="6656649"/>
              </a:tblGrid>
              <a:tr h="384048">
                <a:tc>
                  <a:txBody>
                    <a:bodyPr wrap="square"/>
                    <a:lstStyle/>
                    <a:p>
                      <a:r>
                        <a:rPr sz="1250" b="1" i="0">
                          <a:solidFill>
                            <a:srgbClr val="FFFFFF"/>
                          </a:solidFill>
                          <a:latin typeface="Calibri"/>
                        </a:rPr>
                        <a:t>Risco</a:t>
                      </a:r>
                    </a:p>
                  </a:txBody>
                  <a:tcPr marL="73152" marR="73152" marT="18288" marB="18288" anchor="ctr">
                    <a:solidFill>
                      <a:srgbClr val="0B2447"/>
                    </a:solidFill>
                  </a:tcPr>
                </a:tc>
                <a:tc>
                  <a:txBody>
                    <a:bodyPr wrap="square"/>
                    <a:lstStyle/>
                    <a:p>
                      <a:r>
                        <a:rPr sz="1250" b="1" i="0">
                          <a:solidFill>
                            <a:srgbClr val="FFFFFF"/>
                          </a:solidFill>
                          <a:latin typeface="Calibri"/>
                        </a:rPr>
                        <a:t>Mitigação</a:t>
                      </a:r>
                    </a:p>
                  </a:txBody>
                  <a:tcPr marL="73152" marR="73152" marT="18288" marB="18288" anchor="ctr">
                    <a:solidFill>
                      <a:srgbClr val="0B2447"/>
                    </a:solidFill>
                  </a:tcPr>
                </a:tc>
              </a:tr>
              <a:tr h="384048">
                <a:tc>
                  <a:txBody>
                    <a:bodyPr wrap="square"/>
                    <a:lstStyle/>
                    <a:p>
                      <a:r>
                        <a:rPr sz="1200" b="0" i="0">
                          <a:solidFill>
                            <a:srgbClr val="1B2A36"/>
                          </a:solidFill>
                          <a:latin typeface="Calibri"/>
                        </a:rPr>
                        <a:t>Código-fonte enviado a APIs externas</a:t>
                      </a:r>
                    </a:p>
                  </a:txBody>
                  <a:tcPr marL="73152" marR="73152" marT="18288" marB="18288" anchor="ctr">
                    <a:solidFill>
                      <a:srgbClr val="FFFFFF"/>
                    </a:solidFill>
                  </a:tcPr>
                </a:tc>
                <a:tc>
                  <a:txBody>
                    <a:bodyPr wrap="square"/>
                    <a:lstStyle/>
                    <a:p>
                      <a:r>
                        <a:rPr sz="1200" b="0" i="0">
                          <a:solidFill>
                            <a:srgbClr val="1B2A36"/>
                          </a:solidFill>
                          <a:latin typeface="Calibri"/>
                        </a:rPr>
                        <a:t>Documentação clara, consentimento, dry-run</a:t>
                      </a:r>
                    </a:p>
                  </a:txBody>
                  <a:tcPr marL="73152" marR="73152" marT="18288" marB="18288" anchor="ctr">
                    <a:solidFill>
                      <a:srgbClr val="FFFFFF"/>
                    </a:solidFill>
                  </a:tcPr>
                </a:tc>
              </a:tr>
              <a:tr h="384048">
                <a:tc>
                  <a:txBody>
                    <a:bodyPr wrap="square"/>
                    <a:lstStyle/>
                    <a:p>
                      <a:r>
                        <a:rPr sz="1200" b="0" i="0">
                          <a:solidFill>
                            <a:srgbClr val="1B2A36"/>
                          </a:solidFill>
                          <a:latin typeface="Calibri"/>
                        </a:rPr>
                        <a:t>API keys expostas</a:t>
                      </a:r>
                    </a:p>
                  </a:txBody>
                  <a:tcPr marL="73152" marR="73152" marT="18288" marB="18288" anchor="ctr">
                    <a:solidFill>
                      <a:srgbClr val="EAF1F6"/>
                    </a:solidFill>
                  </a:tcPr>
                </a:tc>
                <a:tc>
                  <a:txBody>
                    <a:bodyPr wrap="square"/>
                    <a:lstStyle/>
                    <a:p>
                      <a:r>
                        <a:rPr sz="1200" b="0" i="0">
                          <a:solidFill>
                            <a:srgbClr val="1B2A36"/>
                          </a:solidFill>
                          <a:latin typeface="Calibri"/>
                        </a:rPr>
                        <a:t>Permissões 0o600, .env no .gitignore</a:t>
                      </a:r>
                    </a:p>
                  </a:txBody>
                  <a:tcPr marL="73152" marR="73152" marT="18288" marB="18288" anchor="ctr">
                    <a:solidFill>
                      <a:srgbClr val="EAF1F6"/>
                    </a:solidFill>
                  </a:tcPr>
                </a:tc>
              </a:tr>
              <a:tr h="384048">
                <a:tc>
                  <a:txBody>
                    <a:bodyPr wrap="square"/>
                    <a:lstStyle/>
                    <a:p>
                      <a:r>
                        <a:rPr sz="1200" b="0" i="0">
                          <a:solidFill>
                            <a:srgbClr val="1B2A36"/>
                          </a:solidFill>
                          <a:latin typeface="Calibri"/>
                        </a:rPr>
                        <a:t>Prompt injection via código-fonte</a:t>
                      </a:r>
                    </a:p>
                  </a:txBody>
                  <a:tcPr marL="73152" marR="73152" marT="18288" marB="18288" anchor="ctr">
                    <a:solidFill>
                      <a:srgbClr val="FFFFFF"/>
                    </a:solidFill>
                  </a:tcPr>
                </a:tc>
                <a:tc>
                  <a:txBody>
                    <a:bodyPr wrap="square"/>
                    <a:lstStyle/>
                    <a:p>
                      <a:r>
                        <a:rPr sz="1200" b="0" i="0">
                          <a:solidFill>
                            <a:srgbClr val="1B2A36"/>
                          </a:solidFill>
                          <a:latin typeface="Calibri"/>
                        </a:rPr>
                        <a:t>Validação de input, sanitização</a:t>
                      </a:r>
                    </a:p>
                  </a:txBody>
                  <a:tcPr marL="73152" marR="73152" marT="18288" marB="18288" anchor="ctr">
                    <a:solidFill>
                      <a:srgbClr val="FFFFFF"/>
                    </a:solidFill>
                  </a:tcPr>
                </a:tc>
              </a:tr>
              <a:tr h="384048">
                <a:tc>
                  <a:txBody>
                    <a:bodyPr wrap="square"/>
                    <a:lstStyle/>
                    <a:p>
                      <a:r>
                        <a:rPr sz="1200" b="0" i="0">
                          <a:solidFill>
                            <a:srgbClr val="1B2A36"/>
                          </a:solidFill>
                          <a:latin typeface="Calibri"/>
                        </a:rPr>
                        <a:t>Testes com código malicioso</a:t>
                      </a:r>
                    </a:p>
                  </a:txBody>
                  <a:tcPr marL="73152" marR="73152" marT="18288" marB="18288" anchor="ctr">
                    <a:solidFill>
                      <a:srgbClr val="EAF1F6"/>
                    </a:solidFill>
                  </a:tcPr>
                </a:tc>
                <a:tc>
                  <a:txBody>
                    <a:bodyPr wrap="square"/>
                    <a:lstStyle/>
                    <a:p>
                      <a:r>
                        <a:rPr sz="1200" b="0" i="0">
                          <a:solidFill>
                            <a:srgbClr val="1B2A36"/>
                          </a:solidFill>
                          <a:latin typeface="Calibri"/>
                        </a:rPr>
                        <a:t>Validação antes da escrita, dry-run</a:t>
                      </a:r>
                    </a:p>
                  </a:txBody>
                  <a:tcPr marL="73152" marR="73152" marT="18288" marB="18288" anchor="ctr">
                    <a:solidFill>
                      <a:srgbClr val="EAF1F6"/>
                    </a:solidFill>
                  </a:tcPr>
                </a:tc>
              </a:tr>
              <a:tr h="384048">
                <a:tc>
                  <a:txBody>
                    <a:bodyPr wrap="square"/>
                    <a:lstStyle/>
                    <a:p>
                      <a:r>
                        <a:rPr sz="1200" b="0" i="0">
                          <a:solidFill>
                            <a:srgbClr val="1B2A36"/>
                          </a:solidFill>
                          <a:latin typeface="Calibri"/>
                        </a:rPr>
                        <a:t>Custo descontrolado de API</a:t>
                      </a:r>
                    </a:p>
                  </a:txBody>
                  <a:tcPr marL="73152" marR="73152" marT="18288" marB="18288" anchor="ctr">
                    <a:solidFill>
                      <a:srgbClr val="FFFFFF"/>
                    </a:solidFill>
                  </a:tcPr>
                </a:tc>
                <a:tc>
                  <a:txBody>
                    <a:bodyPr wrap="square"/>
                    <a:lstStyle/>
                    <a:p>
                      <a:r>
                        <a:rPr sz="1200" b="0" i="0">
                          <a:solidFill>
                            <a:srgbClr val="1B2A36"/>
                          </a:solidFill>
                          <a:latin typeface="Calibri"/>
                        </a:rPr>
                        <a:t>Cache local, limites de tokens, modelos econômicos</a:t>
                      </a:r>
                    </a:p>
                  </a:txBody>
                  <a:tcPr marL="73152" marR="73152" marT="18288" marB="18288" anchor="ctr">
                    <a:solidFill>
                      <a:srgbClr val="FFFFFF"/>
                    </a:solidFill>
                  </a:tcPr>
                </a:tc>
              </a:tr>
            </a:tbl>
          </a:graphicData>
        </a:graphic>
      </p:graphicFrame>
      <p:sp>
        <p:nvSpPr>
          <p:cNvPr id="8" name="TextBox 7"/>
          <p:cNvSpPr txBox="1"/>
          <p:nvPr/>
        </p:nvSpPr>
        <p:spPr>
          <a:xfrm>
            <a:off x="548640" y="3904488"/>
            <a:ext cx="11094415" cy="621792"/>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--dry-run visualiza sem executar  ·  cache evita reprocessamento  ·  nenhum dado persistido em servidores externos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3 · ENSAIO</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Evolução: v0.0.2 → v0.1.0</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14</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graphicFrame>
        <p:nvGraphicFramePr>
          <p:cNvPr id="7" name="Table 6"/>
          <p:cNvGraphicFramePr>
            <a:graphicFrameLocks noGrp="1"/>
          </p:cNvGraphicFramePr>
          <p:nvPr/>
        </p:nvGraphicFramePr>
        <p:xfrm>
          <a:off x="548640" y="1417320"/>
          <a:ext cx="11094414" cy="2688336"/>
        </p:xfrm>
        <a:graphic>
          <a:graphicData uri="http://schemas.openxmlformats.org/drawingml/2006/table">
            <a:tbl>
              <a:tblPr firstRow="1" bandRow="1">
                <a:tableStyleId>{5C22544A-7EE6-4342-B048-85BDC9FD1C3A}</a:tableStyleId>
              </a:tblPr>
              <a:tblGrid>
                <a:gridCol w="4437766"/>
                <a:gridCol w="3328324"/>
                <a:gridCol w="3328324"/>
              </a:tblGrid>
              <a:tr h="384048">
                <a:tc>
                  <a:txBody>
                    <a:bodyPr wrap="square"/>
                    <a:lstStyle/>
                    <a:p>
                      <a:r>
                        <a:rPr sz="1250" b="1" i="0">
                          <a:solidFill>
                            <a:srgbClr val="FFFFFF"/>
                          </a:solidFill>
                          <a:latin typeface="Calibri"/>
                        </a:rPr>
                        <a:t>Feature</a:t>
                      </a:r>
                    </a:p>
                  </a:txBody>
                  <a:tcPr marL="73152" marR="73152" marT="18288" marB="18288" anchor="ctr">
                    <a:solidFill>
                      <a:srgbClr val="0B2447"/>
                    </a:solidFill>
                  </a:tcPr>
                </a:tc>
                <a:tc>
                  <a:txBody>
                    <a:bodyPr wrap="square"/>
                    <a:lstStyle/>
                    <a:p>
                      <a:r>
                        <a:rPr sz="1250" b="1" i="0">
                          <a:solidFill>
                            <a:srgbClr val="FFFFFF"/>
                          </a:solidFill>
                          <a:latin typeface="Calibri"/>
                        </a:rPr>
                        <a:t>v0.0.2</a:t>
                      </a:r>
                    </a:p>
                  </a:txBody>
                  <a:tcPr marL="73152" marR="73152" marT="18288" marB="18288" anchor="ctr">
                    <a:solidFill>
                      <a:srgbClr val="0B2447"/>
                    </a:solidFill>
                  </a:tcPr>
                </a:tc>
                <a:tc>
                  <a:txBody>
                    <a:bodyPr wrap="square"/>
                    <a:lstStyle/>
                    <a:p>
                      <a:r>
                        <a:rPr sz="1250" b="1" i="0">
                          <a:solidFill>
                            <a:srgbClr val="FFFFFF"/>
                          </a:solidFill>
                          <a:latin typeface="Calibri"/>
                        </a:rPr>
                        <a:t>v0.1.0</a:t>
                      </a:r>
                    </a:p>
                  </a:txBody>
                  <a:tcPr marL="73152" marR="73152" marT="18288" marB="18288" anchor="ctr">
                    <a:solidFill>
                      <a:srgbClr val="0B2447"/>
                    </a:solidFill>
                  </a:tcPr>
                </a:tc>
              </a:tr>
              <a:tr h="384048">
                <a:tc>
                  <a:txBody>
                    <a:bodyPr wrap="square"/>
                    <a:lstStyle/>
                    <a:p>
                      <a:r>
                        <a:rPr sz="1200" b="0" i="0">
                          <a:solidFill>
                            <a:srgbClr val="1B2A36"/>
                          </a:solidFill>
                          <a:latin typeface="Calibri"/>
                        </a:rPr>
                        <a:t>Providers</a:t>
                      </a:r>
                    </a:p>
                  </a:txBody>
                  <a:tcPr marL="73152" marR="73152" marT="18288" marB="18288" anchor="ctr">
                    <a:solidFill>
                      <a:srgbClr val="FFFFFF"/>
                    </a:solidFill>
                  </a:tcPr>
                </a:tc>
                <a:tc>
                  <a:txBody>
                    <a:bodyPr wrap="square"/>
                    <a:lstStyle/>
                    <a:p>
                      <a:r>
                        <a:rPr sz="1200" b="0" i="0">
                          <a:solidFill>
                            <a:srgbClr val="1B2A36"/>
                          </a:solidFill>
                          <a:latin typeface="Calibri"/>
                        </a:rPr>
                        <a:t>Apenas OpenAI</a:t>
                      </a:r>
                    </a:p>
                  </a:txBody>
                  <a:tcPr marL="73152" marR="73152" marT="18288" marB="18288" anchor="ctr">
                    <a:solidFill>
                      <a:srgbClr val="FFFFFF"/>
                    </a:solidFill>
                  </a:tcPr>
                </a:tc>
                <a:tc>
                  <a:txBody>
                    <a:bodyPr wrap="square"/>
                    <a:lstStyle/>
                    <a:p>
                      <a:r>
                        <a:rPr sz="1200" b="0" i="0">
                          <a:solidFill>
                            <a:srgbClr val="1B2A36"/>
                          </a:solidFill>
                          <a:latin typeface="Calibri"/>
                        </a:rPr>
                        <a:t>OpenAI + Anthropic</a:t>
                      </a:r>
                    </a:p>
                  </a:txBody>
                  <a:tcPr marL="73152" marR="73152" marT="18288" marB="18288" anchor="ctr">
                    <a:solidFill>
                      <a:srgbClr val="FFFFFF"/>
                    </a:solidFill>
                  </a:tcPr>
                </a:tc>
              </a:tr>
              <a:tr h="384048">
                <a:tc>
                  <a:txBody>
                    <a:bodyPr wrap="square"/>
                    <a:lstStyle/>
                    <a:p>
                      <a:r>
                        <a:rPr sz="1200" b="0" i="0">
                          <a:solidFill>
                            <a:srgbClr val="1B2A36"/>
                          </a:solidFill>
                          <a:latin typeface="Calibri"/>
                        </a:rPr>
                        <a:t>Frameworks</a:t>
                      </a:r>
                    </a:p>
                  </a:txBody>
                  <a:tcPr marL="73152" marR="73152" marT="18288" marB="18288" anchor="ctr">
                    <a:solidFill>
                      <a:srgbClr val="EAF1F6"/>
                    </a:solidFill>
                  </a:tcPr>
                </a:tc>
                <a:tc>
                  <a:txBody>
                    <a:bodyPr wrap="square"/>
                    <a:lstStyle/>
                    <a:p>
                      <a:r>
                        <a:rPr sz="1200" b="0" i="0">
                          <a:solidFill>
                            <a:srgbClr val="1B2A36"/>
                          </a:solidFill>
                          <a:latin typeface="Calibri"/>
                        </a:rPr>
                        <a:t>Apenas Jest</a:t>
                      </a:r>
                    </a:p>
                  </a:txBody>
                  <a:tcPr marL="73152" marR="73152" marT="18288" marB="18288" anchor="ctr">
                    <a:solidFill>
                      <a:srgbClr val="EAF1F6"/>
                    </a:solidFill>
                  </a:tcPr>
                </a:tc>
                <a:tc>
                  <a:txBody>
                    <a:bodyPr wrap="square"/>
                    <a:lstStyle/>
                    <a:p>
                      <a:r>
                        <a:rPr sz="1200" b="0" i="0">
                          <a:solidFill>
                            <a:srgbClr val="1B2A36"/>
                          </a:solidFill>
                          <a:latin typeface="Calibri"/>
                        </a:rPr>
                        <a:t>Jest + Vitest</a:t>
                      </a:r>
                    </a:p>
                  </a:txBody>
                  <a:tcPr marL="73152" marR="73152" marT="18288" marB="18288" anchor="ctr">
                    <a:solidFill>
                      <a:srgbClr val="EAF1F6"/>
                    </a:solidFill>
                  </a:tcPr>
                </a:tc>
              </a:tr>
              <a:tr h="384048">
                <a:tc>
                  <a:txBody>
                    <a:bodyPr wrap="square"/>
                    <a:lstStyle/>
                    <a:p>
                      <a:r>
                        <a:rPr sz="1200" b="0" i="0">
                          <a:solidFill>
                            <a:srgbClr val="1B2A36"/>
                          </a:solidFill>
                          <a:latin typeface="Calibri"/>
                        </a:rPr>
                        <a:t>Comandos</a:t>
                      </a:r>
                    </a:p>
                  </a:txBody>
                  <a:tcPr marL="73152" marR="73152" marT="18288" marB="18288" anchor="ctr">
                    <a:solidFill>
                      <a:srgbClr val="FFFFFF"/>
                    </a:solidFill>
                  </a:tcPr>
                </a:tc>
                <a:tc>
                  <a:txBody>
                    <a:bodyPr wrap="square"/>
                    <a:lstStyle/>
                    <a:p>
                      <a:r>
                        <a:rPr sz="1200" b="0" i="0">
                          <a:solidFill>
                            <a:srgbClr val="1B2A36"/>
                          </a:solidFill>
                          <a:latin typeface="Calibri"/>
                        </a:rPr>
                        <a:t>4</a:t>
                      </a:r>
                    </a:p>
                  </a:txBody>
                  <a:tcPr marL="73152" marR="73152" marT="18288" marB="18288" anchor="ctr">
                    <a:solidFill>
                      <a:srgbClr val="FFFFFF"/>
                    </a:solidFill>
                  </a:tcPr>
                </a:tc>
                <a:tc>
                  <a:txBody>
                    <a:bodyPr wrap="square"/>
                    <a:lstStyle/>
                    <a:p>
                      <a:r>
                        <a:rPr sz="1200" b="0" i="0">
                          <a:solidFill>
                            <a:srgbClr val="1B2A36"/>
                          </a:solidFill>
                          <a:latin typeface="Calibri"/>
                        </a:rPr>
                        <a:t>6 (+batch)</a:t>
                      </a:r>
                    </a:p>
                  </a:txBody>
                  <a:tcPr marL="73152" marR="73152" marT="18288" marB="18288" anchor="ctr">
                    <a:solidFill>
                      <a:srgbClr val="FFFFFF"/>
                    </a:solidFill>
                  </a:tcPr>
                </a:tc>
              </a:tr>
              <a:tr h="384048">
                <a:tc>
                  <a:txBody>
                    <a:bodyPr wrap="square"/>
                    <a:lstStyle/>
                    <a:p>
                      <a:r>
                        <a:rPr sz="1200" b="0" i="0">
                          <a:solidFill>
                            <a:srgbClr val="1B2A36"/>
                          </a:solidFill>
                          <a:latin typeface="Calibri"/>
                        </a:rPr>
                        <a:t>Testes / Cobertura</a:t>
                      </a:r>
                    </a:p>
                  </a:txBody>
                  <a:tcPr marL="73152" marR="73152" marT="18288" marB="18288" anchor="ctr">
                    <a:solidFill>
                      <a:srgbClr val="EAF1F6"/>
                    </a:solidFill>
                  </a:tcPr>
                </a:tc>
                <a:tc>
                  <a:txBody>
                    <a:bodyPr wrap="square"/>
                    <a:lstStyle/>
                    <a:p>
                      <a:r>
                        <a:rPr sz="1200" b="0" i="0">
                          <a:solidFill>
                            <a:srgbClr val="1B2A36"/>
                          </a:solidFill>
                          <a:latin typeface="Calibri"/>
                        </a:rPr>
                        <a:t>154 / 81,68%</a:t>
                      </a:r>
                    </a:p>
                  </a:txBody>
                  <a:tcPr marL="73152" marR="73152" marT="18288" marB="18288" anchor="ctr">
                    <a:solidFill>
                      <a:srgbClr val="EAF1F6"/>
                    </a:solidFill>
                  </a:tcPr>
                </a:tc>
                <a:tc>
                  <a:txBody>
                    <a:bodyPr wrap="square"/>
                    <a:lstStyle/>
                    <a:p>
                      <a:r>
                        <a:rPr sz="1200" b="0" i="0">
                          <a:solidFill>
                            <a:srgbClr val="1B2A36"/>
                          </a:solidFill>
                          <a:latin typeface="Calibri"/>
                        </a:rPr>
                        <a:t>201 / 93%+</a:t>
                      </a:r>
                    </a:p>
                  </a:txBody>
                  <a:tcPr marL="73152" marR="73152" marT="18288" marB="18288" anchor="ctr">
                    <a:solidFill>
                      <a:srgbClr val="EAF1F6"/>
                    </a:solidFill>
                  </a:tcPr>
                </a:tc>
              </a:tr>
              <a:tr h="384048">
                <a:tc>
                  <a:txBody>
                    <a:bodyPr wrap="square"/>
                    <a:lstStyle/>
                    <a:p>
                      <a:r>
                        <a:rPr sz="1200" b="0" i="0">
                          <a:solidFill>
                            <a:srgbClr val="1B2A36"/>
                          </a:solidFill>
                          <a:latin typeface="Calibri"/>
                        </a:rPr>
                        <a:t>Retry</a:t>
                      </a:r>
                    </a:p>
                  </a:txBody>
                  <a:tcPr marL="73152" marR="73152" marT="18288" marB="18288" anchor="ctr">
                    <a:solidFill>
                      <a:srgbClr val="FFFFFF"/>
                    </a:solidFill>
                  </a:tcPr>
                </a:tc>
                <a:tc>
                  <a:txBody>
                    <a:bodyPr wrap="square"/>
                    <a:lstStyle/>
                    <a:p>
                      <a:r>
                        <a:rPr sz="1200" b="0" i="0">
                          <a:solidFill>
                            <a:srgbClr val="1B2A36"/>
                          </a:solidFill>
                          <a:latin typeface="Calibri"/>
                        </a:rPr>
                        <a:t>Sem retry</a:t>
                      </a:r>
                    </a:p>
                  </a:txBody>
                  <a:tcPr marL="73152" marR="73152" marT="18288" marB="18288" anchor="ctr">
                    <a:solidFill>
                      <a:srgbClr val="FFFFFF"/>
                    </a:solidFill>
                  </a:tcPr>
                </a:tc>
                <a:tc>
                  <a:txBody>
                    <a:bodyPr wrap="square"/>
                    <a:lstStyle/>
                    <a:p>
                      <a:r>
                        <a:rPr sz="1200" b="0" i="0">
                          <a:solidFill>
                            <a:srgbClr val="1B2A36"/>
                          </a:solidFill>
                          <a:latin typeface="Calibri"/>
                        </a:rPr>
                        <a:t>Até 3 tentativas com feedback</a:t>
                      </a:r>
                    </a:p>
                  </a:txBody>
                  <a:tcPr marL="73152" marR="73152" marT="18288" marB="18288" anchor="ctr">
                    <a:solidFill>
                      <a:srgbClr val="FFFFFF"/>
                    </a:solidFill>
                  </a:tcPr>
                </a:tc>
              </a:tr>
              <a:tr h="384048">
                <a:tc>
                  <a:txBody>
                    <a:bodyPr wrap="square"/>
                    <a:lstStyle/>
                    <a:p>
                      <a:r>
                        <a:rPr sz="1200" b="0" i="0">
                          <a:solidFill>
                            <a:srgbClr val="1B2A36"/>
                          </a:solidFill>
                          <a:latin typeface="Calibri"/>
                        </a:rPr>
                        <a:t>Validação</a:t>
                      </a:r>
                    </a:p>
                  </a:txBody>
                  <a:tcPr marL="73152" marR="73152" marT="18288" marB="18288" anchor="ctr">
                    <a:solidFill>
                      <a:srgbClr val="EAF1F6"/>
                    </a:solidFill>
                  </a:tcPr>
                </a:tc>
                <a:tc>
                  <a:txBody>
                    <a:bodyPr wrap="square"/>
                    <a:lstStyle/>
                    <a:p>
                      <a:r>
                        <a:rPr sz="1200" b="0" i="0">
                          <a:solidFill>
                            <a:srgbClr val="1B2A36"/>
                          </a:solidFill>
                          <a:latin typeface="Calibri"/>
                        </a:rPr>
                        <a:t>Mínima</a:t>
                      </a:r>
                    </a:p>
                  </a:txBody>
                  <a:tcPr marL="73152" marR="73152" marT="18288" marB="18288" anchor="ctr">
                    <a:solidFill>
                      <a:srgbClr val="EAF1F6"/>
                    </a:solidFill>
                  </a:tcPr>
                </a:tc>
                <a:tc>
                  <a:txBody>
                    <a:bodyPr wrap="square"/>
                    <a:lstStyle/>
                    <a:p>
                      <a:r>
                        <a:rPr sz="1200" b="0" i="0">
                          <a:solidFill>
                            <a:srgbClr val="1B2A36"/>
                          </a:solidFill>
                          <a:latin typeface="Calibri"/>
                        </a:rPr>
                        <a:t>Input validation completa</a:t>
                      </a:r>
                    </a:p>
                  </a:txBody>
                  <a:tcPr marL="73152" marR="73152" marT="18288" marB="18288" anchor="ctr">
                    <a:solidFill>
                      <a:srgbClr val="EAF1F6"/>
                    </a:solidFill>
                  </a:tcPr>
                </a:tc>
              </a:tr>
            </a:tbl>
          </a:graphicData>
        </a:graphic>
      </p:graphicFrame>
      <p:sp>
        <p:nvSpPr>
          <p:cNvPr id="8" name="TextBox 7"/>
          <p:cNvSpPr txBox="1"/>
          <p:nvPr/>
        </p:nvSpPr>
        <p:spPr>
          <a:xfrm>
            <a:off x="548640" y="4288536"/>
            <a:ext cx="11094415" cy="621792"/>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Refatorações: Factory Pattern, separação de responsabilidades, tipagem TypeScript, batch mode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4 · RESSONÂNCIA</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Resultados — Métricas vs Metas</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15</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graphicFrame>
        <p:nvGraphicFramePr>
          <p:cNvPr id="7" name="Table 6"/>
          <p:cNvGraphicFramePr>
            <a:graphicFrameLocks noGrp="1"/>
          </p:cNvGraphicFramePr>
          <p:nvPr/>
        </p:nvGraphicFramePr>
        <p:xfrm>
          <a:off x="548640" y="1417320"/>
          <a:ext cx="11094415" cy="2688336"/>
        </p:xfrm>
        <a:graphic>
          <a:graphicData uri="http://schemas.openxmlformats.org/drawingml/2006/table">
            <a:tbl>
              <a:tblPr firstRow="1" bandRow="1">
                <a:tableStyleId>{5C22544A-7EE6-4342-B048-85BDC9FD1C3A}</a:tableStyleId>
              </a:tblPr>
              <a:tblGrid>
                <a:gridCol w="4437766"/>
                <a:gridCol w="2218883"/>
                <a:gridCol w="2218883"/>
                <a:gridCol w="2218883"/>
              </a:tblGrid>
              <a:tr h="384048">
                <a:tc>
                  <a:txBody>
                    <a:bodyPr wrap="square"/>
                    <a:lstStyle/>
                    <a:p>
                      <a:r>
                        <a:rPr sz="1250" b="1" i="0">
                          <a:solidFill>
                            <a:srgbClr val="FFFFFF"/>
                          </a:solidFill>
                          <a:latin typeface="Calibri"/>
                        </a:rPr>
                        <a:t>Métrica</a:t>
                      </a:r>
                    </a:p>
                  </a:txBody>
                  <a:tcPr marL="73152" marR="73152" marT="18288" marB="18288" anchor="ctr">
                    <a:solidFill>
                      <a:srgbClr val="0B2447"/>
                    </a:solidFill>
                  </a:tcPr>
                </a:tc>
                <a:tc>
                  <a:txBody>
                    <a:bodyPr wrap="square"/>
                    <a:lstStyle/>
                    <a:p>
                      <a:r>
                        <a:rPr sz="1250" b="1" i="0">
                          <a:solidFill>
                            <a:srgbClr val="FFFFFF"/>
                          </a:solidFill>
                          <a:latin typeface="Calibri"/>
                        </a:rPr>
                        <a:t>Meta</a:t>
                      </a:r>
                    </a:p>
                  </a:txBody>
                  <a:tcPr marL="73152" marR="73152" marT="18288" marB="18288" anchor="ctr">
                    <a:solidFill>
                      <a:srgbClr val="0B2447"/>
                    </a:solidFill>
                  </a:tcPr>
                </a:tc>
                <a:tc>
                  <a:txBody>
                    <a:bodyPr wrap="square"/>
                    <a:lstStyle/>
                    <a:p>
                      <a:r>
                        <a:rPr sz="1250" b="1" i="0">
                          <a:solidFill>
                            <a:srgbClr val="FFFFFF"/>
                          </a:solidFill>
                          <a:latin typeface="Calibri"/>
                        </a:rPr>
                        <a:t>Resultado</a:t>
                      </a:r>
                    </a:p>
                  </a:txBody>
                  <a:tcPr marL="73152" marR="73152" marT="18288" marB="18288" anchor="ctr">
                    <a:solidFill>
                      <a:srgbClr val="0B2447"/>
                    </a:solidFill>
                  </a:tcPr>
                </a:tc>
                <a:tc>
                  <a:txBody>
                    <a:bodyPr wrap="square"/>
                    <a:lstStyle/>
                    <a:p>
                      <a:r>
                        <a:rPr sz="1250" b="1" i="0">
                          <a:solidFill>
                            <a:srgbClr val="FFFFFF"/>
                          </a:solidFill>
                          <a:latin typeface="Calibri"/>
                        </a:rPr>
                        <a:t>Delta</a:t>
                      </a:r>
                    </a:p>
                  </a:txBody>
                  <a:tcPr marL="73152" marR="73152" marT="18288" marB="18288" anchor="ctr">
                    <a:solidFill>
                      <a:srgbClr val="0B2447"/>
                    </a:solidFill>
                  </a:tcPr>
                </a:tc>
              </a:tr>
              <a:tr h="384048">
                <a:tc>
                  <a:txBody>
                    <a:bodyPr wrap="square"/>
                    <a:lstStyle/>
                    <a:p>
                      <a:r>
                        <a:rPr sz="1200" b="0" i="0">
                          <a:solidFill>
                            <a:srgbClr val="1B2A36"/>
                          </a:solidFill>
                          <a:latin typeface="Calibri"/>
                        </a:rPr>
                        <a:t>Testes automatizados</a:t>
                      </a:r>
                    </a:p>
                  </a:txBody>
                  <a:tcPr marL="73152" marR="73152" marT="18288" marB="18288" anchor="ctr">
                    <a:solidFill>
                      <a:srgbClr val="FFFFFF"/>
                    </a:solidFill>
                  </a:tcPr>
                </a:tc>
                <a:tc>
                  <a:txBody>
                    <a:bodyPr wrap="square"/>
                    <a:lstStyle/>
                    <a:p>
                      <a:r>
                        <a:rPr sz="1200" b="0" i="0">
                          <a:solidFill>
                            <a:srgbClr val="1B2A36"/>
                          </a:solidFill>
                          <a:latin typeface="Calibri"/>
                        </a:rPr>
                        <a:t>≥ 150</a:t>
                      </a:r>
                    </a:p>
                  </a:txBody>
                  <a:tcPr marL="73152" marR="73152" marT="18288" marB="18288" anchor="ctr">
                    <a:solidFill>
                      <a:srgbClr val="FFFFFF"/>
                    </a:solidFill>
                  </a:tcPr>
                </a:tc>
                <a:tc>
                  <a:txBody>
                    <a:bodyPr wrap="square"/>
                    <a:lstStyle/>
                    <a:p>
                      <a:r>
                        <a:rPr sz="1200" b="0" i="0">
                          <a:solidFill>
                            <a:srgbClr val="1B2A36"/>
                          </a:solidFill>
                          <a:latin typeface="Calibri"/>
                        </a:rPr>
                        <a:t>201</a:t>
                      </a:r>
                    </a:p>
                  </a:txBody>
                  <a:tcPr marL="73152" marR="73152" marT="18288" marB="18288" anchor="ctr">
                    <a:solidFill>
                      <a:srgbClr val="FFFFFF"/>
                    </a:solidFill>
                  </a:tcPr>
                </a:tc>
                <a:tc>
                  <a:txBody>
                    <a:bodyPr wrap="square"/>
                    <a:lstStyle/>
                    <a:p>
                      <a:r>
                        <a:rPr sz="1200" b="0" i="0">
                          <a:solidFill>
                            <a:srgbClr val="1B2A36"/>
                          </a:solidFill>
                          <a:latin typeface="Calibri"/>
                        </a:rPr>
                        <a:t>+34%</a:t>
                      </a:r>
                    </a:p>
                  </a:txBody>
                  <a:tcPr marL="73152" marR="73152" marT="18288" marB="18288" anchor="ctr">
                    <a:solidFill>
                      <a:srgbClr val="FFFFFF"/>
                    </a:solidFill>
                  </a:tcPr>
                </a:tc>
              </a:tr>
              <a:tr h="384048">
                <a:tc>
                  <a:txBody>
                    <a:bodyPr wrap="square"/>
                    <a:lstStyle/>
                    <a:p>
                      <a:r>
                        <a:rPr sz="1200" b="0" i="0">
                          <a:solidFill>
                            <a:srgbClr val="1B2A36"/>
                          </a:solidFill>
                          <a:latin typeface="Calibri"/>
                        </a:rPr>
                        <a:t>Cobertura de código</a:t>
                      </a:r>
                    </a:p>
                  </a:txBody>
                  <a:tcPr marL="73152" marR="73152" marT="18288" marB="18288" anchor="ctr">
                    <a:solidFill>
                      <a:srgbClr val="EAF1F6"/>
                    </a:solidFill>
                  </a:tcPr>
                </a:tc>
                <a:tc>
                  <a:txBody>
                    <a:bodyPr wrap="square"/>
                    <a:lstStyle/>
                    <a:p>
                      <a:r>
                        <a:rPr sz="1200" b="0" i="0">
                          <a:solidFill>
                            <a:srgbClr val="1B2A36"/>
                          </a:solidFill>
                          <a:latin typeface="Calibri"/>
                        </a:rPr>
                        <a:t>≥ 70%</a:t>
                      </a:r>
                    </a:p>
                  </a:txBody>
                  <a:tcPr marL="73152" marR="73152" marT="18288" marB="18288" anchor="ctr">
                    <a:solidFill>
                      <a:srgbClr val="EAF1F6"/>
                    </a:solidFill>
                  </a:tcPr>
                </a:tc>
                <a:tc>
                  <a:txBody>
                    <a:bodyPr wrap="square"/>
                    <a:lstStyle/>
                    <a:p>
                      <a:r>
                        <a:rPr sz="1200" b="0" i="0">
                          <a:solidFill>
                            <a:srgbClr val="1B2A36"/>
                          </a:solidFill>
                          <a:latin typeface="Calibri"/>
                        </a:rPr>
                        <a:t>93%+</a:t>
                      </a:r>
                    </a:p>
                  </a:txBody>
                  <a:tcPr marL="73152" marR="73152" marT="18288" marB="18288" anchor="ctr">
                    <a:solidFill>
                      <a:srgbClr val="EAF1F6"/>
                    </a:solidFill>
                  </a:tcPr>
                </a:tc>
                <a:tc>
                  <a:txBody>
                    <a:bodyPr wrap="square"/>
                    <a:lstStyle/>
                    <a:p>
                      <a:r>
                        <a:rPr sz="1200" b="0" i="0">
                          <a:solidFill>
                            <a:srgbClr val="1B2A36"/>
                          </a:solidFill>
                          <a:latin typeface="Calibri"/>
                        </a:rPr>
                        <a:t>+23pp</a:t>
                      </a:r>
                    </a:p>
                  </a:txBody>
                  <a:tcPr marL="73152" marR="73152" marT="18288" marB="18288" anchor="ctr">
                    <a:solidFill>
                      <a:srgbClr val="EAF1F6"/>
                    </a:solidFill>
                  </a:tcPr>
                </a:tc>
              </a:tr>
              <a:tr h="384048">
                <a:tc>
                  <a:txBody>
                    <a:bodyPr wrap="square"/>
                    <a:lstStyle/>
                    <a:p>
                      <a:r>
                        <a:rPr sz="1200" b="0" i="0">
                          <a:solidFill>
                            <a:srgbClr val="1B2A36"/>
                          </a:solidFill>
                          <a:latin typeface="Calibri"/>
                        </a:rPr>
                        <a:t>Compilação dos outputs</a:t>
                      </a:r>
                    </a:p>
                  </a:txBody>
                  <a:tcPr marL="73152" marR="73152" marT="18288" marB="18288" anchor="ctr">
                    <a:solidFill>
                      <a:srgbClr val="FFFFFF"/>
                    </a:solidFill>
                  </a:tcPr>
                </a:tc>
                <a:tc>
                  <a:txBody>
                    <a:bodyPr wrap="square"/>
                    <a:lstStyle/>
                    <a:p>
                      <a:r>
                        <a:rPr sz="1200" b="0" i="0">
                          <a:solidFill>
                            <a:srgbClr val="1B2A36"/>
                          </a:solidFill>
                          <a:latin typeface="Calibri"/>
                        </a:rPr>
                        <a:t>≥ 80%</a:t>
                      </a:r>
                    </a:p>
                  </a:txBody>
                  <a:tcPr marL="73152" marR="73152" marT="18288" marB="18288" anchor="ctr">
                    <a:solidFill>
                      <a:srgbClr val="FFFFFF"/>
                    </a:solidFill>
                  </a:tcPr>
                </a:tc>
                <a:tc>
                  <a:txBody>
                    <a:bodyPr wrap="square"/>
                    <a:lstStyle/>
                    <a:p>
                      <a:r>
                        <a:rPr sz="1200" b="0" i="0">
                          <a:solidFill>
                            <a:srgbClr val="1B2A36"/>
                          </a:solidFill>
                          <a:latin typeface="Calibri"/>
                        </a:rPr>
                        <a:t>Atingido</a:t>
                      </a:r>
                    </a:p>
                  </a:txBody>
                  <a:tcPr marL="73152" marR="73152" marT="18288" marB="18288" anchor="ctr">
                    <a:solidFill>
                      <a:srgbClr val="FFFFFF"/>
                    </a:solidFill>
                  </a:tcPr>
                </a:tc>
                <a:tc>
                  <a:txBody>
                    <a:bodyPr wrap="square"/>
                    <a:lstStyle/>
                    <a:p>
                      <a:r>
                        <a:rPr sz="1200" b="0" i="0">
                          <a:solidFill>
                            <a:srgbClr val="1B2A36"/>
                          </a:solidFill>
                          <a:latin typeface="Calibri"/>
                        </a:rPr>
                        <a:t>GO</a:t>
                      </a:r>
                    </a:p>
                  </a:txBody>
                  <a:tcPr marL="73152" marR="73152" marT="18288" marB="18288" anchor="ctr">
                    <a:solidFill>
                      <a:srgbClr val="FFFFFF"/>
                    </a:solidFill>
                  </a:tcPr>
                </a:tc>
              </a:tr>
              <a:tr h="384048">
                <a:tc>
                  <a:txBody>
                    <a:bodyPr wrap="square"/>
                    <a:lstStyle/>
                    <a:p>
                      <a:r>
                        <a:rPr sz="1200" b="0" i="0">
                          <a:solidFill>
                            <a:srgbClr val="1B2A36"/>
                          </a:solidFill>
                          <a:latin typeface="Calibri"/>
                        </a:rPr>
                        <a:t>Passagem no Jest</a:t>
                      </a:r>
                    </a:p>
                  </a:txBody>
                  <a:tcPr marL="73152" marR="73152" marT="18288" marB="18288" anchor="ctr">
                    <a:solidFill>
                      <a:srgbClr val="EAF1F6"/>
                    </a:solidFill>
                  </a:tcPr>
                </a:tc>
                <a:tc>
                  <a:txBody>
                    <a:bodyPr wrap="square"/>
                    <a:lstStyle/>
                    <a:p>
                      <a:r>
                        <a:rPr sz="1200" b="0" i="0">
                          <a:solidFill>
                            <a:srgbClr val="1B2A36"/>
                          </a:solidFill>
                          <a:latin typeface="Calibri"/>
                        </a:rPr>
                        <a:t>≥ 60%</a:t>
                      </a:r>
                    </a:p>
                  </a:txBody>
                  <a:tcPr marL="73152" marR="73152" marT="18288" marB="18288" anchor="ctr">
                    <a:solidFill>
                      <a:srgbClr val="EAF1F6"/>
                    </a:solidFill>
                  </a:tcPr>
                </a:tc>
                <a:tc>
                  <a:txBody>
                    <a:bodyPr wrap="square"/>
                    <a:lstStyle/>
                    <a:p>
                      <a:r>
                        <a:rPr sz="1200" b="0" i="0">
                          <a:solidFill>
                            <a:srgbClr val="1B2A36"/>
                          </a:solidFill>
                          <a:latin typeface="Calibri"/>
                        </a:rPr>
                        <a:t>Atingido</a:t>
                      </a:r>
                    </a:p>
                  </a:txBody>
                  <a:tcPr marL="73152" marR="73152" marT="18288" marB="18288" anchor="ctr">
                    <a:solidFill>
                      <a:srgbClr val="EAF1F6"/>
                    </a:solidFill>
                  </a:tcPr>
                </a:tc>
                <a:tc>
                  <a:txBody>
                    <a:bodyPr wrap="square"/>
                    <a:lstStyle/>
                    <a:p>
                      <a:r>
                        <a:rPr sz="1200" b="0" i="0">
                          <a:solidFill>
                            <a:srgbClr val="1B2A36"/>
                          </a:solidFill>
                          <a:latin typeface="Calibri"/>
                        </a:rPr>
                        <a:t>GO</a:t>
                      </a:r>
                    </a:p>
                  </a:txBody>
                  <a:tcPr marL="73152" marR="73152" marT="18288" marB="18288" anchor="ctr">
                    <a:solidFill>
                      <a:srgbClr val="EAF1F6"/>
                    </a:solidFill>
                  </a:tcPr>
                </a:tc>
              </a:tr>
              <a:tr h="384048">
                <a:tc>
                  <a:txBody>
                    <a:bodyPr wrap="square"/>
                    <a:lstStyle/>
                    <a:p>
                      <a:r>
                        <a:rPr sz="1200" b="0" i="0">
                          <a:solidFill>
                            <a:srgbClr val="1B2A36"/>
                          </a:solidFill>
                          <a:latin typeface="Calibri"/>
                        </a:rPr>
                        <a:t>Comandos funcionais</a:t>
                      </a:r>
                    </a:p>
                  </a:txBody>
                  <a:tcPr marL="73152" marR="73152" marT="18288" marB="18288" anchor="ctr">
                    <a:solidFill>
                      <a:srgbClr val="FFFFFF"/>
                    </a:solidFill>
                  </a:tcPr>
                </a:tc>
                <a:tc>
                  <a:txBody>
                    <a:bodyPr wrap="square"/>
                    <a:lstStyle/>
                    <a:p>
                      <a:r>
                        <a:rPr sz="1200" b="0" i="0">
                          <a:solidFill>
                            <a:srgbClr val="1B2A36"/>
                          </a:solidFill>
                          <a:latin typeface="Calibri"/>
                        </a:rPr>
                        <a:t>4</a:t>
                      </a:r>
                    </a:p>
                  </a:txBody>
                  <a:tcPr marL="73152" marR="73152" marT="18288" marB="18288" anchor="ctr">
                    <a:solidFill>
                      <a:srgbClr val="FFFFFF"/>
                    </a:solidFill>
                  </a:tcPr>
                </a:tc>
                <a:tc>
                  <a:txBody>
                    <a:bodyPr wrap="square"/>
                    <a:lstStyle/>
                    <a:p>
                      <a:r>
                        <a:rPr sz="1200" b="0" i="0">
                          <a:solidFill>
                            <a:srgbClr val="1B2A36"/>
                          </a:solidFill>
                          <a:latin typeface="Calibri"/>
                        </a:rPr>
                        <a:t>6</a:t>
                      </a:r>
                    </a:p>
                  </a:txBody>
                  <a:tcPr marL="73152" marR="73152" marT="18288" marB="18288" anchor="ctr">
                    <a:solidFill>
                      <a:srgbClr val="FFFFFF"/>
                    </a:solidFill>
                  </a:tcPr>
                </a:tc>
                <a:tc>
                  <a:txBody>
                    <a:bodyPr wrap="square"/>
                    <a:lstStyle/>
                    <a:p>
                      <a:r>
                        <a:rPr sz="1200" b="0" i="0">
                          <a:solidFill>
                            <a:srgbClr val="1B2A36"/>
                          </a:solidFill>
                          <a:latin typeface="Calibri"/>
                        </a:rPr>
                        <a:t>+50%</a:t>
                      </a:r>
                    </a:p>
                  </a:txBody>
                  <a:tcPr marL="73152" marR="73152" marT="18288" marB="18288" anchor="ctr">
                    <a:solidFill>
                      <a:srgbClr val="FFFFFF"/>
                    </a:solidFill>
                  </a:tcPr>
                </a:tc>
              </a:tr>
              <a:tr h="384048">
                <a:tc>
                  <a:txBody>
                    <a:bodyPr wrap="square"/>
                    <a:lstStyle/>
                    <a:p>
                      <a:r>
                        <a:rPr sz="1200" b="0" i="0">
                          <a:solidFill>
                            <a:srgbClr val="1B2A36"/>
                          </a:solidFill>
                          <a:latin typeface="Calibri"/>
                        </a:rPr>
                        <a:t>Providers suportados</a:t>
                      </a:r>
                    </a:p>
                  </a:txBody>
                  <a:tcPr marL="73152" marR="73152" marT="18288" marB="18288" anchor="ctr">
                    <a:solidFill>
                      <a:srgbClr val="EAF1F6"/>
                    </a:solidFill>
                  </a:tcPr>
                </a:tc>
                <a:tc>
                  <a:txBody>
                    <a:bodyPr wrap="square"/>
                    <a:lstStyle/>
                    <a:p>
                      <a:r>
                        <a:rPr sz="1200" b="0" i="0">
                          <a:solidFill>
                            <a:srgbClr val="1B2A36"/>
                          </a:solidFill>
                          <a:latin typeface="Calibri"/>
                        </a:rPr>
                        <a:t>1</a:t>
                      </a:r>
                    </a:p>
                  </a:txBody>
                  <a:tcPr marL="73152" marR="73152" marT="18288" marB="18288" anchor="ctr">
                    <a:solidFill>
                      <a:srgbClr val="EAF1F6"/>
                    </a:solidFill>
                  </a:tcPr>
                </a:tc>
                <a:tc>
                  <a:txBody>
                    <a:bodyPr wrap="square"/>
                    <a:lstStyle/>
                    <a:p>
                      <a:r>
                        <a:rPr sz="1200" b="0" i="0">
                          <a:solidFill>
                            <a:srgbClr val="1B2A36"/>
                          </a:solidFill>
                          <a:latin typeface="Calibri"/>
                        </a:rPr>
                        <a:t>2</a:t>
                      </a:r>
                    </a:p>
                  </a:txBody>
                  <a:tcPr marL="73152" marR="73152" marT="18288" marB="18288" anchor="ctr">
                    <a:solidFill>
                      <a:srgbClr val="EAF1F6"/>
                    </a:solidFill>
                  </a:tcPr>
                </a:tc>
                <a:tc>
                  <a:txBody>
                    <a:bodyPr wrap="square"/>
                    <a:lstStyle/>
                    <a:p>
                      <a:r>
                        <a:rPr sz="1200" b="0" i="0">
                          <a:solidFill>
                            <a:srgbClr val="1B2A36"/>
                          </a:solidFill>
                          <a:latin typeface="Calibri"/>
                        </a:rPr>
                        <a:t>+100%</a:t>
                      </a:r>
                    </a:p>
                  </a:txBody>
                  <a:tcPr marL="73152" marR="73152" marT="18288" marB="18288" anchor="ctr">
                    <a:solidFill>
                      <a:srgbClr val="EAF1F6"/>
                    </a:solidFill>
                  </a:tcPr>
                </a:tc>
              </a:tr>
            </a:tbl>
          </a:graphicData>
        </a:graphic>
      </p:graphicFrame>
      <p:sp>
        <p:nvSpPr>
          <p:cNvPr id="8" name="TextBox 7"/>
          <p:cNvSpPr txBox="1"/>
          <p:nvPr/>
        </p:nvSpPr>
        <p:spPr>
          <a:xfrm>
            <a:off x="548640" y="4288536"/>
            <a:ext cx="11094415" cy="621792"/>
          </a:xfrm>
          <a:prstGeom prst="rect">
            <a:avLst/>
          </a:prstGeom>
          <a:noFill/>
        </p:spPr>
        <p:txBody>
          <a:bodyPr wrap="square" anchor="t" lIns="45720" rIns="45720" tIns="18288" bIns="18288">
            <a:spAutoFit/>
          </a:bodyPr>
          <a:lstStyle/>
          <a:p>
            <a:pPr>
              <a:spcAft>
                <a:spcPts val="400"/>
              </a:spcAft>
            </a:pPr>
            <a:r>
              <a:rPr sz="1700" b="1" i="0">
                <a:solidFill>
                  <a:srgbClr val="0B2447"/>
                </a:solidFill>
                <a:latin typeface="Calibri"/>
              </a:rPr>
              <a:t>Pipeline validada: requisito → prompt → LLM → teste → execução → cobertura. Todos os GO atendidos.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4 · RESSONÂNCIA</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Painel de Feedback — Temas e Insights</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16</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sp>
        <p:nvSpPr>
          <p:cNvPr id="7" name="TextBox 6"/>
          <p:cNvSpPr txBox="1"/>
          <p:nvPr/>
        </p:nvSpPr>
        <p:spPr>
          <a:xfrm>
            <a:off x="548640" y="1417320"/>
            <a:ext cx="11094415" cy="365760"/>
          </a:xfrm>
          <a:prstGeom prst="rect">
            <a:avLst/>
          </a:prstGeom>
          <a:noFill/>
        </p:spPr>
        <p:txBody>
          <a:bodyPr wrap="square" anchor="t" lIns="45720" rIns="45720" tIns="18288" bIns="18288">
            <a:spAutoFit/>
          </a:bodyPr>
          <a:lstStyle/>
          <a:p>
            <a:r>
              <a:rPr sz="1700" b="1" i="0">
                <a:solidFill>
                  <a:srgbClr val="149ECA"/>
                </a:solidFill>
                <a:latin typeface="Calibri"/>
              </a:rPr>
              <a:t>Feedback positivo</a:t>
            </a:r>
          </a:p>
        </p:txBody>
      </p:sp>
      <p:sp>
        <p:nvSpPr>
          <p:cNvPr id="8" name="TextBox 7"/>
          <p:cNvSpPr txBox="1"/>
          <p:nvPr/>
        </p:nvSpPr>
        <p:spPr>
          <a:xfrm>
            <a:off x="548640" y="1828800"/>
            <a:ext cx="11094415" cy="1243584"/>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"Gerar testes pelo terminal é muito mais rápido que manualmente"</a:t>
            </a:r>
          </a:p>
          <a:p>
            <a:pPr>
              <a:spcAft>
                <a:spcPts val="400"/>
              </a:spcAft>
            </a:pPr>
            <a:r>
              <a:rPr sz="1600" b="1" i="0">
                <a:solidFill>
                  <a:srgbClr val="149ECA"/>
                </a:solidFill>
                <a:latin typeface="Calibri"/>
              </a:rPr>
              <a:t>▸ </a:t>
            </a:r>
            <a:r>
              <a:rPr sz="1600" b="0" i="0">
                <a:solidFill>
                  <a:srgbClr val="1B2A36"/>
                </a:solidFill>
                <a:latin typeface="Calibri"/>
              </a:rPr>
              <a:t>"O modo batch é um game-changer para projetos grandes"</a:t>
            </a:r>
          </a:p>
          <a:p>
            <a:pPr>
              <a:spcAft>
                <a:spcPts val="400"/>
              </a:spcAft>
            </a:pPr>
            <a:r>
              <a:rPr sz="1600" b="1" i="0">
                <a:solidFill>
                  <a:srgbClr val="149ECA"/>
                </a:solidFill>
                <a:latin typeface="Calibri"/>
              </a:rPr>
              <a:t>▸ </a:t>
            </a:r>
            <a:r>
              <a:rPr sz="1600" b="0" i="0">
                <a:solidFill>
                  <a:srgbClr val="1B2A36"/>
                </a:solidFill>
                <a:latin typeface="Calibri"/>
              </a:rPr>
              <a:t>"Suporte a Vitest faltava em outras ferramentas"</a:t>
            </a:r>
          </a:p>
        </p:txBody>
      </p:sp>
      <p:sp>
        <p:nvSpPr>
          <p:cNvPr id="9" name="TextBox 8"/>
          <p:cNvSpPr txBox="1"/>
          <p:nvPr/>
        </p:nvSpPr>
        <p:spPr>
          <a:xfrm>
            <a:off x="548640" y="3072384"/>
            <a:ext cx="11094415" cy="365760"/>
          </a:xfrm>
          <a:prstGeom prst="rect">
            <a:avLst/>
          </a:prstGeom>
          <a:noFill/>
        </p:spPr>
        <p:txBody>
          <a:bodyPr wrap="square" anchor="t" lIns="45720" rIns="45720" tIns="18288" bIns="18288">
            <a:spAutoFit/>
          </a:bodyPr>
          <a:lstStyle/>
          <a:p>
            <a:r>
              <a:rPr sz="1700" b="1" i="0">
                <a:solidFill>
                  <a:srgbClr val="149ECA"/>
                </a:solidFill>
                <a:latin typeface="Calibri"/>
              </a:rPr>
              <a:t>Oportunidades</a:t>
            </a:r>
          </a:p>
        </p:txBody>
      </p:sp>
      <p:sp>
        <p:nvSpPr>
          <p:cNvPr id="10" name="TextBox 9"/>
          <p:cNvSpPr txBox="1"/>
          <p:nvPr/>
        </p:nvSpPr>
        <p:spPr>
          <a:xfrm>
            <a:off x="548640" y="3483864"/>
            <a:ext cx="11094415" cy="932688"/>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Mais linguagens além de TypeScript/JavaScript</a:t>
            </a:r>
          </a:p>
          <a:p>
            <a:pPr>
              <a:spcAft>
                <a:spcPts val="400"/>
              </a:spcAft>
            </a:pPr>
            <a:r>
              <a:rPr sz="1600" b="1" i="0">
                <a:solidFill>
                  <a:srgbClr val="149ECA"/>
                </a:solidFill>
                <a:latin typeface="Calibri"/>
              </a:rPr>
              <a:t>▸ </a:t>
            </a:r>
            <a:r>
              <a:rPr sz="1600" b="0" i="0">
                <a:solidFill>
                  <a:srgbClr val="1B2A36"/>
                </a:solidFill>
                <a:latin typeface="Calibri"/>
              </a:rPr>
              <a:t>Integração com IDE  ·  testes de integração com banco de dados</a:t>
            </a:r>
          </a:p>
        </p:txBody>
      </p:sp>
      <p:sp>
        <p:nvSpPr>
          <p:cNvPr id="11" name="Rectangle 10"/>
          <p:cNvSpPr/>
          <p:nvPr/>
        </p:nvSpPr>
        <p:spPr>
          <a:xfrm>
            <a:off x="548640" y="4416552"/>
            <a:ext cx="11094415" cy="713232"/>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500" b="1" i="1">
                <a:solidFill>
                  <a:srgbClr val="0B2447"/>
                </a:solidFill>
                <a:latin typeface="Calibri"/>
              </a:rPr>
              <a:t>Insight: batch mode é a feature mais valorizada por tech leads (Marina); generate simples agrada devs individuais (Carlos); dry-run é mais usado que o esperado.</a:t>
            </a:r>
          </a:p>
        </p:txBody>
      </p:sp>
      <p:sp>
        <p:nvSpPr>
          <p:cNvPr id="12" name="Rectangle 11"/>
          <p:cNvSpPr/>
          <p:nvPr/>
        </p:nvSpPr>
        <p:spPr>
          <a:xfrm>
            <a:off x="548640" y="4416552"/>
            <a:ext cx="73152" cy="71323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4 · RESSONÂNCIA</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Decisão: PERSEVERAR</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17</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graphicFrame>
        <p:nvGraphicFramePr>
          <p:cNvPr id="7" name="Table 6"/>
          <p:cNvGraphicFramePr>
            <a:graphicFrameLocks noGrp="1"/>
          </p:cNvGraphicFramePr>
          <p:nvPr/>
        </p:nvGraphicFramePr>
        <p:xfrm>
          <a:off x="548640" y="1417320"/>
          <a:ext cx="11094414" cy="1536192"/>
        </p:xfrm>
        <a:graphic>
          <a:graphicData uri="http://schemas.openxmlformats.org/drawingml/2006/table">
            <a:tbl>
              <a:tblPr firstRow="1" bandRow="1">
                <a:tableStyleId>{5C22544A-7EE6-4342-B048-85BDC9FD1C3A}</a:tableStyleId>
              </a:tblPr>
              <a:tblGrid>
                <a:gridCol w="3328324"/>
                <a:gridCol w="5547207"/>
                <a:gridCol w="2218883"/>
              </a:tblGrid>
              <a:tr h="384048">
                <a:tc>
                  <a:txBody>
                    <a:bodyPr wrap="square"/>
                    <a:lstStyle/>
                    <a:p>
                      <a:r>
                        <a:rPr sz="1250" b="1" i="0">
                          <a:solidFill>
                            <a:srgbClr val="FFFFFF"/>
                          </a:solidFill>
                          <a:latin typeface="Calibri"/>
                        </a:rPr>
                        <a:t>Opção</a:t>
                      </a:r>
                    </a:p>
                  </a:txBody>
                  <a:tcPr marL="73152" marR="73152" marT="18288" marB="18288" anchor="ctr">
                    <a:solidFill>
                      <a:srgbClr val="0B2447"/>
                    </a:solidFill>
                  </a:tcPr>
                </a:tc>
                <a:tc>
                  <a:txBody>
                    <a:bodyPr wrap="square"/>
                    <a:lstStyle/>
                    <a:p>
                      <a:r>
                        <a:rPr sz="1250" b="1" i="0">
                          <a:solidFill>
                            <a:srgbClr val="FFFFFF"/>
                          </a:solidFill>
                          <a:latin typeface="Calibri"/>
                        </a:rPr>
                        <a:t>Critério</a:t>
                      </a:r>
                    </a:p>
                  </a:txBody>
                  <a:tcPr marL="73152" marR="73152" marT="18288" marB="18288" anchor="ctr">
                    <a:solidFill>
                      <a:srgbClr val="0B2447"/>
                    </a:solidFill>
                  </a:tcPr>
                </a:tc>
                <a:tc>
                  <a:txBody>
                    <a:bodyPr wrap="square"/>
                    <a:lstStyle/>
                    <a:p>
                      <a:r>
                        <a:rPr sz="1250" b="1" i="0">
                          <a:solidFill>
                            <a:srgbClr val="FFFFFF"/>
                          </a:solidFill>
                          <a:latin typeface="Calibri"/>
                        </a:rPr>
                        <a:t>Resultado</a:t>
                      </a:r>
                    </a:p>
                  </a:txBody>
                  <a:tcPr marL="73152" marR="73152" marT="18288" marB="18288" anchor="ctr">
                    <a:solidFill>
                      <a:srgbClr val="0B2447"/>
                    </a:solidFill>
                  </a:tcPr>
                </a:tc>
              </a:tr>
              <a:tr h="384048">
                <a:tc>
                  <a:txBody>
                    <a:bodyPr wrap="square"/>
                    <a:lstStyle/>
                    <a:p>
                      <a:r>
                        <a:rPr sz="1200" b="0" i="0">
                          <a:solidFill>
                            <a:srgbClr val="1B2A36"/>
                          </a:solidFill>
                          <a:latin typeface="Calibri"/>
                        </a:rPr>
                        <a:t>PERSEVERAR</a:t>
                      </a:r>
                    </a:p>
                  </a:txBody>
                  <a:tcPr marL="73152" marR="73152" marT="18288" marB="18288" anchor="ctr">
                    <a:solidFill>
                      <a:srgbClr val="FFFFFF"/>
                    </a:solidFill>
                  </a:tcPr>
                </a:tc>
                <a:tc>
                  <a:txBody>
                    <a:bodyPr wrap="square"/>
                    <a:lstStyle/>
                    <a:p>
                      <a:r>
                        <a:rPr sz="1200" b="0" i="0">
                          <a:solidFill>
                            <a:srgbClr val="1B2A36"/>
                          </a:solidFill>
                          <a:latin typeface="Calibri"/>
                        </a:rPr>
                        <a:t>Todos os critérios GO atendidos</a:t>
                      </a:r>
                    </a:p>
                  </a:txBody>
                  <a:tcPr marL="73152" marR="73152" marT="18288" marB="18288" anchor="ctr">
                    <a:solidFill>
                      <a:srgbClr val="FFFFFF"/>
                    </a:solidFill>
                  </a:tcPr>
                </a:tc>
                <a:tc>
                  <a:txBody>
                    <a:bodyPr wrap="square"/>
                    <a:lstStyle/>
                    <a:p>
                      <a:r>
                        <a:rPr sz="1200" b="0" i="0">
                          <a:solidFill>
                            <a:srgbClr val="1B2A36"/>
                          </a:solidFill>
                          <a:latin typeface="Calibri"/>
                        </a:rPr>
                        <a:t>SIM</a:t>
                      </a:r>
                    </a:p>
                  </a:txBody>
                  <a:tcPr marL="73152" marR="73152" marT="18288" marB="18288" anchor="ctr">
                    <a:solidFill>
                      <a:srgbClr val="FFFFFF"/>
                    </a:solidFill>
                  </a:tcPr>
                </a:tc>
              </a:tr>
              <a:tr h="384048">
                <a:tc>
                  <a:txBody>
                    <a:bodyPr wrap="square"/>
                    <a:lstStyle/>
                    <a:p>
                      <a:r>
                        <a:rPr sz="1200" b="0" i="0">
                          <a:solidFill>
                            <a:srgbClr val="1B2A36"/>
                          </a:solidFill>
                          <a:latin typeface="Calibri"/>
                        </a:rPr>
                        <a:t>PIVOTAR</a:t>
                      </a:r>
                    </a:p>
                  </a:txBody>
                  <a:tcPr marL="73152" marR="73152" marT="18288" marB="18288" anchor="ctr">
                    <a:solidFill>
                      <a:srgbClr val="EAF1F6"/>
                    </a:solidFill>
                  </a:tcPr>
                </a:tc>
                <a:tc>
                  <a:txBody>
                    <a:bodyPr wrap="square"/>
                    <a:lstStyle/>
                    <a:p>
                      <a:r>
                        <a:rPr sz="1200" b="0" i="0">
                          <a:solidFill>
                            <a:srgbClr val="1B2A36"/>
                          </a:solidFill>
                          <a:latin typeface="Calibri"/>
                        </a:rPr>
                        <a:t>Hipótese invalidada, domínio válido</a:t>
                      </a:r>
                    </a:p>
                  </a:txBody>
                  <a:tcPr marL="73152" marR="73152" marT="18288" marB="18288" anchor="ctr">
                    <a:solidFill>
                      <a:srgbClr val="EAF1F6"/>
                    </a:solidFill>
                  </a:tcPr>
                </a:tc>
                <a:tc>
                  <a:txBody>
                    <a:bodyPr wrap="square"/>
                    <a:lstStyle/>
                    <a:p>
                      <a:r>
                        <a:rPr sz="1200" b="0" i="0">
                          <a:solidFill>
                            <a:srgbClr val="1B2A36"/>
                          </a:solidFill>
                          <a:latin typeface="Calibri"/>
                        </a:rPr>
                        <a:t>N/A</a:t>
                      </a:r>
                    </a:p>
                  </a:txBody>
                  <a:tcPr marL="73152" marR="73152" marT="18288" marB="18288" anchor="ctr">
                    <a:solidFill>
                      <a:srgbClr val="EAF1F6"/>
                    </a:solidFill>
                  </a:tcPr>
                </a:tc>
              </a:tr>
              <a:tr h="384048">
                <a:tc>
                  <a:txBody>
                    <a:bodyPr wrap="square"/>
                    <a:lstStyle/>
                    <a:p>
                      <a:r>
                        <a:rPr sz="1200" b="0" i="0">
                          <a:solidFill>
                            <a:srgbClr val="1B2A36"/>
                          </a:solidFill>
                          <a:latin typeface="Calibri"/>
                        </a:rPr>
                        <a:t>ABANDONAR</a:t>
                      </a:r>
                    </a:p>
                  </a:txBody>
                  <a:tcPr marL="73152" marR="73152" marT="18288" marB="18288" anchor="ctr">
                    <a:solidFill>
                      <a:srgbClr val="FFFFFF"/>
                    </a:solidFill>
                  </a:tcPr>
                </a:tc>
                <a:tc>
                  <a:txBody>
                    <a:bodyPr wrap="square"/>
                    <a:lstStyle/>
                    <a:p>
                      <a:r>
                        <a:rPr sz="1200" b="0" i="0">
                          <a:solidFill>
                            <a:srgbClr val="1B2A36"/>
                          </a:solidFill>
                          <a:latin typeface="Calibri"/>
                        </a:rPr>
                        <a:t>Domínio sem viabilidade</a:t>
                      </a:r>
                    </a:p>
                  </a:txBody>
                  <a:tcPr marL="73152" marR="73152" marT="18288" marB="18288" anchor="ctr">
                    <a:solidFill>
                      <a:srgbClr val="FFFFFF"/>
                    </a:solidFill>
                  </a:tcPr>
                </a:tc>
                <a:tc>
                  <a:txBody>
                    <a:bodyPr wrap="square"/>
                    <a:lstStyle/>
                    <a:p>
                      <a:r>
                        <a:rPr sz="1200" b="0" i="0">
                          <a:solidFill>
                            <a:srgbClr val="1B2A36"/>
                          </a:solidFill>
                          <a:latin typeface="Calibri"/>
                        </a:rPr>
                        <a:t>N/A</a:t>
                      </a:r>
                    </a:p>
                  </a:txBody>
                  <a:tcPr marL="73152" marR="73152" marT="18288" marB="18288" anchor="ctr">
                    <a:solidFill>
                      <a:srgbClr val="FFFFFF"/>
                    </a:solidFill>
                  </a:tcPr>
                </a:tc>
              </a:tr>
            </a:tbl>
          </a:graphicData>
        </a:graphic>
      </p:graphicFrame>
      <p:sp>
        <p:nvSpPr>
          <p:cNvPr id="8" name="TextBox 7"/>
          <p:cNvSpPr txBox="1"/>
          <p:nvPr/>
        </p:nvSpPr>
        <p:spPr>
          <a:xfrm>
            <a:off x="548640" y="3136392"/>
            <a:ext cx="11094415" cy="1554480"/>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201 testes, 93%+ cobertura (meta: 150 / 70%)</a:t>
            </a:r>
          </a:p>
          <a:p>
            <a:pPr>
              <a:spcAft>
                <a:spcPts val="400"/>
              </a:spcAft>
            </a:pPr>
            <a:r>
              <a:rPr sz="1600" b="1" i="0">
                <a:solidFill>
                  <a:srgbClr val="149ECA"/>
                </a:solidFill>
                <a:latin typeface="Calibri"/>
              </a:rPr>
              <a:t>▸ </a:t>
            </a:r>
            <a:r>
              <a:rPr sz="1600" b="0" i="0">
                <a:solidFill>
                  <a:srgbClr val="1B2A36"/>
                </a:solidFill>
                <a:latin typeface="Calibri"/>
              </a:rPr>
              <a:t>Pipeline end-to-end funcional · hipótese validada</a:t>
            </a:r>
          </a:p>
          <a:p>
            <a:pPr>
              <a:spcAft>
                <a:spcPts val="400"/>
              </a:spcAft>
            </a:pPr>
            <a:r>
              <a:rPr sz="1600" b="1" i="0">
                <a:solidFill>
                  <a:srgbClr val="149ECA"/>
                </a:solidFill>
                <a:latin typeface="Calibri"/>
              </a:rPr>
              <a:t>▸ </a:t>
            </a:r>
            <a:r>
              <a:rPr sz="1600" b="0" i="0">
                <a:solidFill>
                  <a:srgbClr val="1B2A36"/>
                </a:solidFill>
                <a:latin typeface="Calibri"/>
              </a:rPr>
              <a:t>Arquitetura extensível (Factory permite novos providers)</a:t>
            </a:r>
          </a:p>
          <a:p>
            <a:pPr>
              <a:spcAft>
                <a:spcPts val="400"/>
              </a:spcAft>
            </a:pPr>
            <a:r>
              <a:rPr sz="1700" b="1" i="0">
                <a:solidFill>
                  <a:srgbClr val="0B2447"/>
                </a:solidFill>
                <a:latin typeface="Calibri"/>
              </a:rPr>
              <a:t>Próximos passos: publicar v0.1.0, coletar métricas reais, expandir beta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4 · RESSONÂNCIA</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Roadmap — v0.5 e v1.0</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18</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sp>
        <p:nvSpPr>
          <p:cNvPr id="7" name="TextBox 6"/>
          <p:cNvSpPr txBox="1"/>
          <p:nvPr/>
        </p:nvSpPr>
        <p:spPr>
          <a:xfrm>
            <a:off x="548640" y="1417320"/>
            <a:ext cx="11094415" cy="365760"/>
          </a:xfrm>
          <a:prstGeom prst="rect">
            <a:avLst/>
          </a:prstGeom>
          <a:noFill/>
        </p:spPr>
        <p:txBody>
          <a:bodyPr wrap="square" anchor="t" lIns="45720" rIns="45720" tIns="18288" bIns="18288">
            <a:spAutoFit/>
          </a:bodyPr>
          <a:lstStyle/>
          <a:p>
            <a:r>
              <a:rPr sz="1700" b="1" i="0">
                <a:solidFill>
                  <a:srgbClr val="149ECA"/>
                </a:solidFill>
                <a:latin typeface="Calibri"/>
              </a:rPr>
              <a:t>v0.5 (próximo trimestre)</a:t>
            </a:r>
          </a:p>
        </p:txBody>
      </p:sp>
      <p:sp>
        <p:nvSpPr>
          <p:cNvPr id="8" name="TextBox 7"/>
          <p:cNvSpPr txBox="1"/>
          <p:nvPr/>
        </p:nvSpPr>
        <p:spPr>
          <a:xfrm>
            <a:off x="548640" y="1828800"/>
            <a:ext cx="11094415" cy="932688"/>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Mais modelos (GPT-4o, Claude Sonnet)  ·  watch mode</a:t>
            </a:r>
          </a:p>
          <a:p>
            <a:pPr>
              <a:spcAft>
                <a:spcPts val="400"/>
              </a:spcAft>
            </a:pPr>
            <a:r>
              <a:rPr sz="1600" b="1" i="0">
                <a:solidFill>
                  <a:srgbClr val="149ECA"/>
                </a:solidFill>
                <a:latin typeface="Calibri"/>
              </a:rPr>
              <a:t>▸ </a:t>
            </a:r>
            <a:r>
              <a:rPr sz="1600" b="0" i="0">
                <a:solidFill>
                  <a:srgbClr val="1B2A36"/>
                </a:solidFill>
                <a:latin typeface="Calibri"/>
              </a:rPr>
              <a:t>Retry com análise semântica  ·  prompts customizados  ·  relatório HTML</a:t>
            </a:r>
          </a:p>
        </p:txBody>
      </p:sp>
      <p:sp>
        <p:nvSpPr>
          <p:cNvPr id="9" name="TextBox 8"/>
          <p:cNvSpPr txBox="1"/>
          <p:nvPr/>
        </p:nvSpPr>
        <p:spPr>
          <a:xfrm>
            <a:off x="548640" y="2761488"/>
            <a:ext cx="11094415" cy="365760"/>
          </a:xfrm>
          <a:prstGeom prst="rect">
            <a:avLst/>
          </a:prstGeom>
          <a:noFill/>
        </p:spPr>
        <p:txBody>
          <a:bodyPr wrap="square" anchor="t" lIns="45720" rIns="45720" tIns="18288" bIns="18288">
            <a:spAutoFit/>
          </a:bodyPr>
          <a:lstStyle/>
          <a:p>
            <a:r>
              <a:rPr sz="1700" b="1" i="0">
                <a:solidFill>
                  <a:srgbClr val="149ECA"/>
                </a:solidFill>
                <a:latin typeface="Calibri"/>
              </a:rPr>
              <a:t>v1.0 (6 meses)</a:t>
            </a:r>
          </a:p>
        </p:txBody>
      </p:sp>
      <p:sp>
        <p:nvSpPr>
          <p:cNvPr id="10" name="TextBox 9"/>
          <p:cNvSpPr txBox="1"/>
          <p:nvPr/>
        </p:nvSpPr>
        <p:spPr>
          <a:xfrm>
            <a:off x="548640" y="3172968"/>
            <a:ext cx="11094415" cy="932688"/>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Suporte a Python e Go  ·  plugin system para frameworks</a:t>
            </a:r>
          </a:p>
          <a:p>
            <a:pPr>
              <a:spcAft>
                <a:spcPts val="400"/>
              </a:spcAft>
            </a:pPr>
            <a:r>
              <a:rPr sz="1600" b="1" i="0">
                <a:solidFill>
                  <a:srgbClr val="149ECA"/>
                </a:solidFill>
                <a:latin typeface="Calibri"/>
              </a:rPr>
              <a:t>▸ </a:t>
            </a:r>
            <a:r>
              <a:rPr sz="1600" b="0" i="0">
                <a:solidFill>
                  <a:srgbClr val="1B2A36"/>
                </a:solidFill>
                <a:latin typeface="Calibri"/>
              </a:rPr>
              <a:t>Integração VS Code / JetBrains  ·  análise de mutação  ·  CI/CD</a:t>
            </a:r>
          </a:p>
        </p:txBody>
      </p:sp>
      <p:sp>
        <p:nvSpPr>
          <p:cNvPr id="11" name="Rectangle 10"/>
          <p:cNvSpPr/>
          <p:nvPr/>
        </p:nvSpPr>
        <p:spPr>
          <a:xfrm>
            <a:off x="548640" y="4105656"/>
            <a:ext cx="11094415" cy="713232"/>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500" b="1" i="1">
                <a:solidFill>
                  <a:srgbClr val="0B2447"/>
                </a:solidFill>
                <a:latin typeface="Calibri"/>
              </a:rPr>
              <a:t>Visão de longo prazo: agente autônomo de qualidade — sugere testes proativamente em PRs e aprende com as correções do time.</a:t>
            </a:r>
          </a:p>
        </p:txBody>
      </p:sp>
      <p:sp>
        <p:nvSpPr>
          <p:cNvPr id="12" name="Rectangle 11"/>
          <p:cNvSpPr/>
          <p:nvPr/>
        </p:nvSpPr>
        <p:spPr>
          <a:xfrm>
            <a:off x="548640" y="4105656"/>
            <a:ext cx="73152" cy="71323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320040"/>
          </a:xfrm>
          <a:prstGeom prst="rect">
            <a:avLst/>
          </a:prstGeom>
          <a:noFill/>
        </p:spPr>
        <p:txBody>
          <a:bodyPr wrap="square" anchor="t" lIns="45720" rIns="45720" tIns="18288" bIns="18288">
            <a:spAutoFit/>
          </a:bodyPr>
          <a:lstStyle/>
          <a:p>
            <a:r>
              <a:rPr sz="1200" b="1" i="0">
                <a:solidFill>
                  <a:srgbClr val="149ECA"/>
                </a:solidFill>
                <a:latin typeface="Calibri"/>
              </a:rPr>
              <a:t>MOVIMENTO 4 · RESSONÂNCIA</a:t>
            </a:r>
          </a:p>
        </p:txBody>
      </p:sp>
      <p:sp>
        <p:nvSpPr>
          <p:cNvPr id="4" name="TextBox 3"/>
          <p:cNvSpPr txBox="1"/>
          <p:nvPr/>
        </p:nvSpPr>
        <p:spPr>
          <a:xfrm>
            <a:off x="548640" y="603504"/>
            <a:ext cx="11094415" cy="822960"/>
          </a:xfrm>
          <a:prstGeom prst="rect">
            <a:avLst/>
          </a:prstGeom>
          <a:noFill/>
        </p:spPr>
        <p:txBody>
          <a:bodyPr wrap="square" anchor="t" lIns="45720" rIns="45720" tIns="18288" bIns="18288">
            <a:spAutoFit/>
          </a:bodyPr>
          <a:lstStyle/>
          <a:p>
            <a:r>
              <a:rPr sz="2800" b="1" i="0">
                <a:solidFill>
                  <a:srgbClr val="0B2447"/>
                </a:solidFill>
                <a:latin typeface="Calibri"/>
              </a:rPr>
              <a:t>Reflexão: Uso de IA no Desenvolvimento</a:t>
            </a:r>
          </a:p>
        </p:txBody>
      </p:sp>
      <p:sp>
        <p:nvSpPr>
          <p:cNvPr id="5" name="TextBox 4"/>
          <p:cNvSpPr txBox="1"/>
          <p:nvPr/>
        </p:nvSpPr>
        <p:spPr>
          <a:xfrm>
            <a:off x="11338560" y="6400800"/>
            <a:ext cx="731520" cy="320040"/>
          </a:xfrm>
          <a:prstGeom prst="rect">
            <a:avLst/>
          </a:prstGeom>
          <a:noFill/>
        </p:spPr>
        <p:txBody>
          <a:bodyPr wrap="square" anchor="t" lIns="45720" rIns="45720" tIns="18288" bIns="18288">
            <a:spAutoFit/>
          </a:bodyPr>
          <a:lstStyle/>
          <a:p>
            <a:pPr algn="r"/>
            <a:r>
              <a:rPr sz="1100" b="0" i="0">
                <a:solidFill>
                  <a:srgbClr val="5B6B79"/>
                </a:solidFill>
                <a:latin typeface="Calibri"/>
              </a:rPr>
              <a:t>19</a:t>
            </a:r>
          </a:p>
        </p:txBody>
      </p:sp>
      <p:sp>
        <p:nvSpPr>
          <p:cNvPr id="6" name="TextBox 5"/>
          <p:cNvSpPr txBox="1"/>
          <p:nvPr/>
        </p:nvSpPr>
        <p:spPr>
          <a:xfrm>
            <a:off x="548640" y="6400800"/>
            <a:ext cx="5486400" cy="320040"/>
          </a:xfrm>
          <a:prstGeom prst="rect">
            <a:avLst/>
          </a:prstGeom>
          <a:noFill/>
        </p:spPr>
        <p:txBody>
          <a:bodyPr wrap="square" anchor="t" lIns="45720" rIns="45720" tIns="18288" bIns="18288">
            <a:spAutoFit/>
          </a:bodyPr>
          <a:lstStyle/>
          <a:p>
            <a:r>
              <a:rPr sz="1000" b="0" i="0">
                <a:solidFill>
                  <a:srgbClr val="5B6B79"/>
                </a:solidFill>
                <a:latin typeface="Calibri"/>
              </a:rPr>
              <a:t>Fastest CLI  ·  Metodologia Sinfonia</a:t>
            </a:r>
          </a:p>
        </p:txBody>
      </p:sp>
      <p:graphicFrame>
        <p:nvGraphicFramePr>
          <p:cNvPr id="7" name="Table 6"/>
          <p:cNvGraphicFramePr>
            <a:graphicFrameLocks noGrp="1"/>
          </p:cNvGraphicFramePr>
          <p:nvPr/>
        </p:nvGraphicFramePr>
        <p:xfrm>
          <a:off x="548640" y="1417320"/>
          <a:ext cx="11094413" cy="1536192"/>
        </p:xfrm>
        <a:graphic>
          <a:graphicData uri="http://schemas.openxmlformats.org/drawingml/2006/table">
            <a:tbl>
              <a:tblPr firstRow="1" bandRow="1">
                <a:tableStyleId>{5C22544A-7EE6-4342-B048-85BDC9FD1C3A}</a:tableStyleId>
              </a:tblPr>
              <a:tblGrid>
                <a:gridCol w="4034332"/>
                <a:gridCol w="3025749"/>
                <a:gridCol w="4034332"/>
              </a:tblGrid>
              <a:tr h="384048">
                <a:tc>
                  <a:txBody>
                    <a:bodyPr wrap="square"/>
                    <a:lstStyle/>
                    <a:p>
                      <a:r>
                        <a:rPr sz="1250" b="1" i="0">
                          <a:solidFill>
                            <a:srgbClr val="FFFFFF"/>
                          </a:solidFill>
                          <a:latin typeface="Calibri"/>
                        </a:rPr>
                        <a:t>Onde</a:t>
                      </a:r>
                    </a:p>
                  </a:txBody>
                  <a:tcPr marL="73152" marR="73152" marT="18288" marB="18288" anchor="ctr">
                    <a:solidFill>
                      <a:srgbClr val="0B2447"/>
                    </a:solidFill>
                  </a:tcPr>
                </a:tc>
                <a:tc>
                  <a:txBody>
                    <a:bodyPr wrap="square"/>
                    <a:lstStyle/>
                    <a:p>
                      <a:r>
                        <a:rPr sz="1250" b="1" i="0">
                          <a:solidFill>
                            <a:srgbClr val="FFFFFF"/>
                          </a:solidFill>
                          <a:latin typeface="Calibri"/>
                        </a:rPr>
                        <a:t>Ferramenta</a:t>
                      </a:r>
                    </a:p>
                  </a:txBody>
                  <a:tcPr marL="73152" marR="73152" marT="18288" marB="18288" anchor="ctr">
                    <a:solidFill>
                      <a:srgbClr val="0B2447"/>
                    </a:solidFill>
                  </a:tcPr>
                </a:tc>
                <a:tc>
                  <a:txBody>
                    <a:bodyPr wrap="square"/>
                    <a:lstStyle/>
                    <a:p>
                      <a:r>
                        <a:rPr sz="1250" b="1" i="0">
                          <a:solidFill>
                            <a:srgbClr val="FFFFFF"/>
                          </a:solidFill>
                          <a:latin typeface="Calibri"/>
                        </a:rPr>
                        <a:t>Para quê</a:t>
                      </a:r>
                    </a:p>
                  </a:txBody>
                  <a:tcPr marL="73152" marR="73152" marT="18288" marB="18288" anchor="ctr">
                    <a:solidFill>
                      <a:srgbClr val="0B2447"/>
                    </a:solidFill>
                  </a:tcPr>
                </a:tc>
              </a:tr>
              <a:tr h="384048">
                <a:tc>
                  <a:txBody>
                    <a:bodyPr wrap="square"/>
                    <a:lstStyle/>
                    <a:p>
                      <a:r>
                        <a:rPr sz="1200" b="0" i="0">
                          <a:solidFill>
                            <a:srgbClr val="1B2A36"/>
                          </a:solidFill>
                          <a:latin typeface="Calibri"/>
                        </a:rPr>
                        <a:t>Desenvolvimento do CLI</a:t>
                      </a:r>
                    </a:p>
                  </a:txBody>
                  <a:tcPr marL="73152" marR="73152" marT="18288" marB="18288" anchor="ctr">
                    <a:solidFill>
                      <a:srgbClr val="FFFFFF"/>
                    </a:solidFill>
                  </a:tcPr>
                </a:tc>
                <a:tc>
                  <a:txBody>
                    <a:bodyPr wrap="square"/>
                    <a:lstStyle/>
                    <a:p>
                      <a:r>
                        <a:rPr sz="1200" b="0" i="0">
                          <a:solidFill>
                            <a:srgbClr val="1B2A36"/>
                          </a:solidFill>
                          <a:latin typeface="Calibri"/>
                        </a:rPr>
                        <a:t>Claude (Anthropic)</a:t>
                      </a:r>
                    </a:p>
                  </a:txBody>
                  <a:tcPr marL="73152" marR="73152" marT="18288" marB="18288" anchor="ctr">
                    <a:solidFill>
                      <a:srgbClr val="FFFFFF"/>
                    </a:solidFill>
                  </a:tcPr>
                </a:tc>
                <a:tc>
                  <a:txBody>
                    <a:bodyPr wrap="square"/>
                    <a:lstStyle/>
                    <a:p>
                      <a:r>
                        <a:rPr sz="1200" b="0" i="0">
                          <a:solidFill>
                            <a:srgbClr val="1B2A36"/>
                          </a:solidFill>
                          <a:latin typeface="Calibri"/>
                        </a:rPr>
                        <a:t>Codificação, refatoração, testes</a:t>
                      </a:r>
                    </a:p>
                  </a:txBody>
                  <a:tcPr marL="73152" marR="73152" marT="18288" marB="18288" anchor="ctr">
                    <a:solidFill>
                      <a:srgbClr val="FFFFFF"/>
                    </a:solidFill>
                  </a:tcPr>
                </a:tc>
              </a:tr>
              <a:tr h="384048">
                <a:tc>
                  <a:txBody>
                    <a:bodyPr wrap="square"/>
                    <a:lstStyle/>
                    <a:p>
                      <a:r>
                        <a:rPr sz="1200" b="0" i="0">
                          <a:solidFill>
                            <a:srgbClr val="1B2A36"/>
                          </a:solidFill>
                          <a:latin typeface="Calibri"/>
                        </a:rPr>
                        <a:t>Geração de testes (produto)</a:t>
                      </a:r>
                    </a:p>
                  </a:txBody>
                  <a:tcPr marL="73152" marR="73152" marT="18288" marB="18288" anchor="ctr">
                    <a:solidFill>
                      <a:srgbClr val="EAF1F6"/>
                    </a:solidFill>
                  </a:tcPr>
                </a:tc>
                <a:tc>
                  <a:txBody>
                    <a:bodyPr wrap="square"/>
                    <a:lstStyle/>
                    <a:p>
                      <a:r>
                        <a:rPr sz="1200" b="0" i="0">
                          <a:solidFill>
                            <a:srgbClr val="1B2A36"/>
                          </a:solidFill>
                          <a:latin typeface="Calibri"/>
                        </a:rPr>
                        <a:t>gpt-4o-mini, Claude Haiku</a:t>
                      </a:r>
                    </a:p>
                  </a:txBody>
                  <a:tcPr marL="73152" marR="73152" marT="18288" marB="18288" anchor="ctr">
                    <a:solidFill>
                      <a:srgbClr val="EAF1F6"/>
                    </a:solidFill>
                  </a:tcPr>
                </a:tc>
                <a:tc>
                  <a:txBody>
                    <a:bodyPr wrap="square"/>
                    <a:lstStyle/>
                    <a:p>
                      <a:r>
                        <a:rPr sz="1200" b="0" i="0">
                          <a:solidFill>
                            <a:srgbClr val="1B2A36"/>
                          </a:solidFill>
                          <a:latin typeface="Calibri"/>
                        </a:rPr>
                        <a:t>Core feature da ferramenta</a:t>
                      </a:r>
                    </a:p>
                  </a:txBody>
                  <a:tcPr marL="73152" marR="73152" marT="18288" marB="18288" anchor="ctr">
                    <a:solidFill>
                      <a:srgbClr val="EAF1F6"/>
                    </a:solidFill>
                  </a:tcPr>
                </a:tc>
              </a:tr>
              <a:tr h="384048">
                <a:tc>
                  <a:txBody>
                    <a:bodyPr wrap="square"/>
                    <a:lstStyle/>
                    <a:p>
                      <a:r>
                        <a:rPr sz="1200" b="0" i="0">
                          <a:solidFill>
                            <a:srgbClr val="1B2A36"/>
                          </a:solidFill>
                          <a:latin typeface="Calibri"/>
                        </a:rPr>
                        <a:t>Documentação</a:t>
                      </a:r>
                    </a:p>
                  </a:txBody>
                  <a:tcPr marL="73152" marR="73152" marT="18288" marB="18288" anchor="ctr">
                    <a:solidFill>
                      <a:srgbClr val="FFFFFF"/>
                    </a:solidFill>
                  </a:tcPr>
                </a:tc>
                <a:tc>
                  <a:txBody>
                    <a:bodyPr wrap="square"/>
                    <a:lstStyle/>
                    <a:p>
                      <a:r>
                        <a:rPr sz="1200" b="0" i="0">
                          <a:solidFill>
                            <a:srgbClr val="1B2A36"/>
                          </a:solidFill>
                          <a:latin typeface="Calibri"/>
                        </a:rPr>
                        <a:t>Claude</a:t>
                      </a:r>
                    </a:p>
                  </a:txBody>
                  <a:tcPr marL="73152" marR="73152" marT="18288" marB="18288" anchor="ctr">
                    <a:solidFill>
                      <a:srgbClr val="FFFFFF"/>
                    </a:solidFill>
                  </a:tcPr>
                </a:tc>
                <a:tc>
                  <a:txBody>
                    <a:bodyPr wrap="square"/>
                    <a:lstStyle/>
                    <a:p>
                      <a:r>
                        <a:rPr sz="1200" b="0" i="0">
                          <a:solidFill>
                            <a:srgbClr val="1B2A36"/>
                          </a:solidFill>
                          <a:latin typeface="Calibri"/>
                        </a:rPr>
                        <a:t>Revisão e estruturação</a:t>
                      </a:r>
                    </a:p>
                  </a:txBody>
                  <a:tcPr marL="73152" marR="73152" marT="18288" marB="18288" anchor="ctr">
                    <a:solidFill>
                      <a:srgbClr val="FFFFFF"/>
                    </a:solidFill>
                  </a:tcPr>
                </a:tc>
              </a:tr>
            </a:tbl>
          </a:graphicData>
        </a:graphic>
      </p:graphicFrame>
      <p:sp>
        <p:nvSpPr>
          <p:cNvPr id="8" name="TextBox 7"/>
          <p:cNvSpPr txBox="1"/>
          <p:nvPr/>
        </p:nvSpPr>
        <p:spPr>
          <a:xfrm>
            <a:off x="548640" y="3044952"/>
            <a:ext cx="11094415" cy="621792"/>
          </a:xfrm>
          <a:prstGeom prst="rect">
            <a:avLst/>
          </a:prstGeom>
          <a:noFill/>
        </p:spPr>
        <p:txBody>
          <a:bodyPr wrap="square" anchor="t" lIns="45720" rIns="45720" tIns="18288" bIns="18288">
            <a:spAutoFit/>
          </a:bodyPr>
          <a:lstStyle/>
          <a:p>
            <a:pPr>
              <a:spcAft>
                <a:spcPts val="400"/>
              </a:spcAft>
            </a:pPr>
            <a:r>
              <a:rPr sz="1600" b="1" i="0">
                <a:solidFill>
                  <a:srgbClr val="149ECA"/>
                </a:solidFill>
                <a:latin typeface="Calibri"/>
              </a:rPr>
              <a:t>▸ </a:t>
            </a:r>
            <a:r>
              <a:rPr sz="1600" b="0" i="0">
                <a:solidFill>
                  <a:srgbClr val="1B2A36"/>
                </a:solidFill>
                <a:latin typeface="Calibri"/>
              </a:rPr>
              <a:t>Limitações: foco em happy path · outputs exigem revisão humana · dependência de APIs externas</a:t>
            </a:r>
          </a:p>
        </p:txBody>
      </p:sp>
      <p:sp>
        <p:nvSpPr>
          <p:cNvPr id="9" name="Rectangle 8"/>
          <p:cNvSpPr/>
          <p:nvPr/>
        </p:nvSpPr>
        <p:spPr>
          <a:xfrm>
            <a:off x="548640" y="3666744"/>
            <a:ext cx="11094415" cy="713232"/>
          </a:xfrm>
          <a:prstGeom prst="rect">
            <a:avLst/>
          </a:prstGeom>
          <a:solidFill>
            <a:srgbClr val="F2F6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500" b="1" i="1">
                <a:solidFill>
                  <a:srgbClr val="0B2447"/>
                </a:solidFill>
                <a:latin typeface="Calibri"/>
              </a:rPr>
              <a:t>Atribuição: a IA foi usada como assistente no desenvolvimento. Todos os outputs foram revisados e validados por humanos — a IA é ferramenta, não substituto.</a:t>
            </a:r>
          </a:p>
        </p:txBody>
      </p:sp>
      <p:sp>
        <p:nvSpPr>
          <p:cNvPr id="10" name="Rectangle 9"/>
          <p:cNvSpPr/>
          <p:nvPr/>
        </p:nvSpPr>
        <p:spPr>
          <a:xfrm>
            <a:off x="548640" y="3666744"/>
            <a:ext cx="73152" cy="713232"/>
          </a:xfrm>
          <a:prstGeom prst="rect">
            <a:avLst/>
          </a:prstGeom>
          <a:solidFill>
            <a:srgbClr val="149E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